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0.svg" ContentType="image/svg+xml"/>
  <Override PartName="/ppt/media/image14.svg" ContentType="image/svg+xml"/>
  <Override PartName="/ppt/media/image16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rade Gothic Condensed Bold" charset="1" panose="020B0806040303020004"/>
      <p:regular r:id="rId7"/>
    </p:embeddedFont>
    <p:embeddedFont>
      <p:font typeface="Tomorrow Bold" charset="1" panose="00000000000000000000"/>
      <p:regular r:id="rId8"/>
    </p:embeddedFont>
    <p:embeddedFont>
      <p:font typeface="Calibri (MS) Bold" charset="1" panose="020F0702030404030204"/>
      <p:regular r:id="rId9"/>
    </p:embeddedFont>
    <p:embeddedFont>
      <p:font typeface="Tomorrow" charset="1" panose="00000000000000000000"/>
      <p:regular r:id="rId10"/>
    </p:embeddedFont>
    <p:embeddedFont>
      <p:font typeface="Trade Gothic Condensed" charset="1" panose="020B0506040303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Compliance &amp; Intercept %</a:t>
            </a:r>
          </a:p>
          <a:p>
            <a:r>
              <a:t>(higher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Before: Traditional Manual Postal Process</c:v>
                </c:pt>
              </c:strCache>
            </c:strRef>
          </c:tx>
          <c:spPr>
            <a:solidFill>
              <a:srgbClr val="0E86F4"/>
            </a:solidFill>
            <a:ln>
              <a:noFill/>
            </a:ln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Discrepancy Catch %</c:v>
                </c:pt>
                <c:pt idx="1">
                  <c:v>Release Guard %</c:v>
                </c:pt>
                <c:pt idx="2">
                  <c:v>Audit Integrity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60.0</c:v>
                </c:pt>
                <c:pt idx="2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After: AICTE Central Treasury Portal (SIH26265)</c:v>
                </c:pt>
              </c:strCache>
            </c:strRef>
          </c:tx>
          <c:spPr>
            <a:solidFill>
              <a:srgbClr val="CBD5E1"/>
            </a:solidFill>
            <a:ln>
              <a:noFill/>
            </a:ln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sz="1100" b="1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Discrepancy Catch %</c:v>
                </c:pt>
                <c:pt idx="1">
                  <c:v>Release Guard %</c:v>
                </c:pt>
                <c:pt idx="2">
                  <c:v>Audit Integrity 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</c:numCache>
            </c:numRef>
          </c:val>
        </c:ser>
        <c:gapWidth val="55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2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Turnaround Time (Days)</a:t>
            </a:r>
          </a:p>
          <a:p>
            <a:r>
              <a:t>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Before: Traditional Manual Postal Process</c:v>
                </c:pt>
              </c:strCache>
            </c:strRef>
          </c:tx>
          <c:spPr>
            <a:solidFill>
              <a:srgbClr val="0E86F4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#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Bank Verification</c:v>
                </c:pt>
                <c:pt idx="1">
                  <c:v>Discrepancy Triage</c:v>
                </c:pt>
                <c:pt idx="2">
                  <c:v>Release Clearance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8.5</c:v>
                </c:pt>
                <c:pt idx="2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After: AICTE Central Treasury Portal (SIH26265)</c:v>
                </c:pt>
              </c:strCache>
            </c:strRef>
          </c:tx>
          <c:spPr>
            <a:solidFill>
              <a:srgbClr val="CBD5E1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#" sourceLinked="0"/>
            <c:txPr>
              <a:bodyPr/>
              <a:lstStyle/>
              <a:p>
                <a:pPr>
                  <a:defRPr sz="1100" b="1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Bank Verification</c:v>
                </c:pt>
                <c:pt idx="1">
                  <c:v>Discrepancy Triage</c:v>
                </c:pt>
                <c:pt idx="2">
                  <c:v>Release Clearance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</c:v>
                </c:pt>
                <c:pt idx="1">
                  <c:v>0.5</c:v>
                </c:pt>
                <c:pt idx="2">
                  <c:v>2.0</c:v>
                </c:pt>
              </c:numCache>
            </c:numRef>
          </c:val>
        </c:ser>
        <c:gapWidth val="55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2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svg"/><Relationship Id="rId45" Type="http://schemas.openxmlformats.org/officeDocument/2006/relationships/image" Target="../media/image44.png"/><Relationship Id="rId46" Type="http://schemas.openxmlformats.org/officeDocument/2006/relationships/image" Target="../media/image45.svg"/><Relationship Id="rId47" Type="http://schemas.openxmlformats.org/officeDocument/2006/relationships/image" Target="../media/image46.png"/><Relationship Id="rId48" Type="http://schemas.openxmlformats.org/officeDocument/2006/relationships/image" Target="../media/image47.svg"/><Relationship Id="rId49" Type="http://schemas.openxmlformats.org/officeDocument/2006/relationships/image" Target="../media/image48.png"/><Relationship Id="rId50" Type="http://schemas.openxmlformats.org/officeDocument/2006/relationships/image" Target="../media/image49.svg"/><Relationship Id="rId51" Type="http://schemas.openxmlformats.org/officeDocument/2006/relationships/image" Target="../media/image50.png"/><Relationship Id="rId52" Type="http://schemas.openxmlformats.org/officeDocument/2006/relationships/image" Target="../media/image51.svg"/><Relationship Id="rId53" Type="http://schemas.openxmlformats.org/officeDocument/2006/relationships/image" Target="../media/image52.png"/><Relationship Id="rId54" Type="http://schemas.openxmlformats.org/officeDocument/2006/relationships/image" Target="../media/image53.svg"/><Relationship Id="rId55" Type="http://schemas.openxmlformats.org/officeDocument/2006/relationships/image" Target="../media/image54.png"/><Relationship Id="rId56" Type="http://schemas.openxmlformats.org/officeDocument/2006/relationships/image" Target="../media/image55.svg"/><Relationship Id="rId57" Type="http://schemas.openxmlformats.org/officeDocument/2006/relationships/image" Target="../media/image56.png"/><Relationship Id="rId58" Type="http://schemas.openxmlformats.org/officeDocument/2006/relationships/image" Target="../media/image57.svg"/><Relationship Id="rId59" Type="http://schemas.openxmlformats.org/officeDocument/2006/relationships/image" Target="../media/image58.png"/><Relationship Id="rId60" Type="http://schemas.openxmlformats.org/officeDocument/2006/relationships/chart" Target="../charts/chart1.xml"/><Relationship Id="rId61" Type="http://schemas.openxmlformats.org/officeDocument/2006/relationships/chart" Target="../charts/char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2593" y="-264176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2593" y="-342757"/>
            <a:ext cx="16459200" cy="1793081"/>
            <a:chOff x="0" y="0"/>
            <a:chExt cx="21945600" cy="23907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390775"/>
            </a:xfrm>
            <a:custGeom>
              <a:avLst/>
              <a:gdLst/>
              <a:ahLst/>
              <a:cxnLst/>
              <a:rect r="r" b="b" t="t" l="l"/>
              <a:pathLst>
                <a:path h="23907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90775"/>
                  </a:lnTo>
                  <a:lnTo>
                    <a:pt x="0" y="23907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58" r="0" b="-1288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52346" y="763191"/>
            <a:ext cx="188157" cy="188157"/>
            <a:chOff x="0" y="0"/>
            <a:chExt cx="250876" cy="25087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50825" cy="250825"/>
            </a:xfrm>
            <a:custGeom>
              <a:avLst/>
              <a:gdLst/>
              <a:ahLst/>
              <a:cxnLst/>
              <a:rect r="r" b="b" t="t" l="l"/>
              <a:pathLst>
                <a:path h="250825" w="250825">
                  <a:moveTo>
                    <a:pt x="0" y="0"/>
                  </a:moveTo>
                  <a:lnTo>
                    <a:pt x="250825" y="0"/>
                  </a:lnTo>
                  <a:lnTo>
                    <a:pt x="250825" y="250825"/>
                  </a:lnTo>
                  <a:lnTo>
                    <a:pt x="0" y="25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0" b="-2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871050" y="2248"/>
            <a:ext cx="2173872" cy="1026471"/>
            <a:chOff x="0" y="0"/>
            <a:chExt cx="2898496" cy="13686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521" cy="1368679"/>
            </a:xfrm>
            <a:custGeom>
              <a:avLst/>
              <a:gdLst/>
              <a:ahLst/>
              <a:cxnLst/>
              <a:rect r="r" b="b" t="t" l="l"/>
              <a:pathLst>
                <a:path h="1368679" w="2898521">
                  <a:moveTo>
                    <a:pt x="0" y="0"/>
                  </a:moveTo>
                  <a:lnTo>
                    <a:pt x="2898521" y="0"/>
                  </a:lnTo>
                  <a:lnTo>
                    <a:pt x="2898521" y="1368679"/>
                  </a:lnTo>
                  <a:lnTo>
                    <a:pt x="0" y="1368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1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9050" y="10067439"/>
            <a:ext cx="18503208" cy="754856"/>
            <a:chOff x="0" y="0"/>
            <a:chExt cx="24670944" cy="1006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70893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70893">
                  <a:moveTo>
                    <a:pt x="0" y="0"/>
                  </a:moveTo>
                  <a:lnTo>
                    <a:pt x="24670893" y="0"/>
                  </a:lnTo>
                  <a:lnTo>
                    <a:pt x="24670893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632950" y="5627475"/>
            <a:ext cx="5292214" cy="4446594"/>
          </a:xfrm>
          <a:custGeom>
            <a:avLst/>
            <a:gdLst/>
            <a:ahLst/>
            <a:cxnLst/>
            <a:rect r="r" b="b" t="t" l="l"/>
            <a:pathLst>
              <a:path h="4446594" w="5292214">
                <a:moveTo>
                  <a:pt x="0" y="0"/>
                </a:moveTo>
                <a:lnTo>
                  <a:pt x="5292214" y="0"/>
                </a:lnTo>
                <a:lnTo>
                  <a:pt x="5292214" y="4446594"/>
                </a:lnTo>
                <a:lnTo>
                  <a:pt x="0" y="4446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087288" y="9949805"/>
            <a:ext cx="286312" cy="547688"/>
            <a:chOff x="0" y="0"/>
            <a:chExt cx="381749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762" cy="730250"/>
            </a:xfrm>
            <a:custGeom>
              <a:avLst/>
              <a:gdLst/>
              <a:ahLst/>
              <a:cxnLst/>
              <a:rect r="r" b="b" t="t" l="l"/>
              <a:pathLst>
                <a:path h="730250" w="381762">
                  <a:moveTo>
                    <a:pt x="0" y="0"/>
                  </a:moveTo>
                  <a:lnTo>
                    <a:pt x="381762" y="0"/>
                  </a:lnTo>
                  <a:lnTo>
                    <a:pt x="38176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595" t="0" r="-19559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87288" y="9921230"/>
            <a:ext cx="286312" cy="576262"/>
            <a:chOff x="0" y="0"/>
            <a:chExt cx="381749" cy="76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749" cy="768351"/>
            </a:xfrm>
            <a:custGeom>
              <a:avLst/>
              <a:gdLst/>
              <a:ahLst/>
              <a:cxnLst/>
              <a:rect r="r" b="b" t="t" l="l"/>
              <a:pathLst>
                <a:path h="768351" w="381749">
                  <a:moveTo>
                    <a:pt x="0" y="0"/>
                  </a:moveTo>
                  <a:lnTo>
                    <a:pt x="381749" y="0"/>
                  </a:lnTo>
                  <a:lnTo>
                    <a:pt x="381749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237" t="0" r="-20823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1749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6655" y="5678434"/>
            <a:ext cx="7751321" cy="4356278"/>
          </a:xfrm>
          <a:custGeom>
            <a:avLst/>
            <a:gdLst/>
            <a:ahLst/>
            <a:cxnLst/>
            <a:rect r="r" b="b" t="t" l="l"/>
            <a:pathLst>
              <a:path h="4356278" w="7751321">
                <a:moveTo>
                  <a:pt x="0" y="0"/>
                </a:moveTo>
                <a:lnTo>
                  <a:pt x="7751321" y="0"/>
                </a:lnTo>
                <a:lnTo>
                  <a:pt x="7751321" y="4356277"/>
                </a:lnTo>
                <a:lnTo>
                  <a:pt x="0" y="43562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779001" y="5653869"/>
            <a:ext cx="4881753" cy="4378595"/>
          </a:xfrm>
          <a:custGeom>
            <a:avLst/>
            <a:gdLst/>
            <a:ahLst/>
            <a:cxnLst/>
            <a:rect r="r" b="b" t="t" l="l"/>
            <a:pathLst>
              <a:path h="4378595" w="4881753">
                <a:moveTo>
                  <a:pt x="0" y="0"/>
                </a:moveTo>
                <a:lnTo>
                  <a:pt x="4881753" y="0"/>
                </a:lnTo>
                <a:lnTo>
                  <a:pt x="4881753" y="4378594"/>
                </a:lnTo>
                <a:lnTo>
                  <a:pt x="0" y="4378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7780803" y="4779007"/>
            <a:ext cx="446027" cy="1120245"/>
            <a:chOff x="0" y="0"/>
            <a:chExt cx="594703" cy="1493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741" cy="1493647"/>
            </a:xfrm>
            <a:custGeom>
              <a:avLst/>
              <a:gdLst/>
              <a:ahLst/>
              <a:cxnLst/>
              <a:rect r="r" b="b" t="t" l="l"/>
              <a:pathLst>
                <a:path h="1493647" w="594741">
                  <a:moveTo>
                    <a:pt x="0" y="0"/>
                  </a:moveTo>
                  <a:lnTo>
                    <a:pt x="594741" y="0"/>
                  </a:lnTo>
                  <a:lnTo>
                    <a:pt x="594741" y="1493647"/>
                  </a:lnTo>
                  <a:lnTo>
                    <a:pt x="0" y="149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97" t="0" r="-39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555308" y="5757148"/>
            <a:ext cx="317640" cy="284207"/>
            <a:chOff x="0" y="0"/>
            <a:chExt cx="423520" cy="3789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3545" cy="378968"/>
            </a:xfrm>
            <a:custGeom>
              <a:avLst/>
              <a:gdLst/>
              <a:ahLst/>
              <a:cxnLst/>
              <a:rect r="r" b="b" t="t" l="l"/>
              <a:pathLst>
                <a:path h="378968" w="423545">
                  <a:moveTo>
                    <a:pt x="0" y="0"/>
                  </a:moveTo>
                  <a:lnTo>
                    <a:pt x="423545" y="0"/>
                  </a:lnTo>
                  <a:lnTo>
                    <a:pt x="423545" y="378968"/>
                  </a:lnTo>
                  <a:lnTo>
                    <a:pt x="0" y="378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6" b="6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2599094" y="1066562"/>
            <a:ext cx="5292214" cy="4387901"/>
          </a:xfrm>
          <a:custGeom>
            <a:avLst/>
            <a:gdLst/>
            <a:ahLst/>
            <a:cxnLst/>
            <a:rect r="r" b="b" t="t" l="l"/>
            <a:pathLst>
              <a:path h="4387901" w="5292214">
                <a:moveTo>
                  <a:pt x="0" y="0"/>
                </a:moveTo>
                <a:lnTo>
                  <a:pt x="5292214" y="0"/>
                </a:lnTo>
                <a:lnTo>
                  <a:pt x="5292214" y="4387901"/>
                </a:lnTo>
                <a:lnTo>
                  <a:pt x="0" y="43879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2751" y="1027824"/>
            <a:ext cx="7286463" cy="4693558"/>
          </a:xfrm>
          <a:custGeom>
            <a:avLst/>
            <a:gdLst/>
            <a:ahLst/>
            <a:cxnLst/>
            <a:rect r="r" b="b" t="t" l="l"/>
            <a:pathLst>
              <a:path h="4693558" w="7286463">
                <a:moveTo>
                  <a:pt x="0" y="0"/>
                </a:moveTo>
                <a:lnTo>
                  <a:pt x="7286463" y="0"/>
                </a:lnTo>
                <a:lnTo>
                  <a:pt x="7286463" y="4693558"/>
                </a:lnTo>
                <a:lnTo>
                  <a:pt x="0" y="46935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23631" y="1434722"/>
            <a:ext cx="211684" cy="167011"/>
            <a:chOff x="0" y="0"/>
            <a:chExt cx="282245" cy="2226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2194" cy="222631"/>
            </a:xfrm>
            <a:custGeom>
              <a:avLst/>
              <a:gdLst/>
              <a:ahLst/>
              <a:cxnLst/>
              <a:rect r="r" b="b" t="t" l="l"/>
              <a:pathLst>
                <a:path h="222631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22631"/>
                  </a:lnTo>
                  <a:lnTo>
                    <a:pt x="0" y="222631"/>
                  </a:lnTo>
                  <a:close/>
                </a:path>
              </a:pathLst>
            </a:custGeom>
            <a:solidFill>
              <a:srgbClr val="4A86F7"/>
            </a:solidFill>
            <a:ln w="9525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20220" y="1262348"/>
            <a:ext cx="3200048" cy="511759"/>
            <a:chOff x="0" y="0"/>
            <a:chExt cx="4266730" cy="6823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6692" cy="682371"/>
            </a:xfrm>
            <a:custGeom>
              <a:avLst/>
              <a:gdLst/>
              <a:ahLst/>
              <a:cxnLst/>
              <a:rect r="r" b="b" t="t" l="l"/>
              <a:pathLst>
                <a:path h="682371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682371"/>
                  </a:lnTo>
                  <a:lnTo>
                    <a:pt x="0" y="682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53" r="0" b="-7174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0220" y="1254595"/>
            <a:ext cx="3200048" cy="519513"/>
            <a:chOff x="0" y="0"/>
            <a:chExt cx="4266730" cy="6926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6727" cy="692684"/>
            </a:xfrm>
            <a:custGeom>
              <a:avLst/>
              <a:gdLst/>
              <a:ahLst/>
              <a:cxnLst/>
              <a:rect r="r" b="b" t="t" l="l"/>
              <a:pathLst>
                <a:path h="692684" w="4266727">
                  <a:moveTo>
                    <a:pt x="0" y="0"/>
                  </a:moveTo>
                  <a:lnTo>
                    <a:pt x="4266727" y="0"/>
                  </a:lnTo>
                  <a:lnTo>
                    <a:pt x="4266727" y="692684"/>
                  </a:lnTo>
                  <a:lnTo>
                    <a:pt x="0" y="692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022" r="0" b="-7002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266730" cy="692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sz="1149" b="1">
                  <a:solidFill>
                    <a:srgbClr val="404040"/>
                  </a:solidFill>
                  <a:latin typeface="Tomorrow Bold"/>
                </a:rPr>
                <a:t>Before: Traditional Manual Postal Process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71252" y="1429188"/>
            <a:ext cx="211684" cy="167011"/>
            <a:chOff x="0" y="0"/>
            <a:chExt cx="282245" cy="2226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2194" cy="222631"/>
            </a:xfrm>
            <a:custGeom>
              <a:avLst/>
              <a:gdLst/>
              <a:ahLst/>
              <a:cxnLst/>
              <a:rect r="r" b="b" t="t" l="l"/>
              <a:pathLst>
                <a:path h="222631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22631"/>
                  </a:lnTo>
                  <a:lnTo>
                    <a:pt x="0" y="222631"/>
                  </a:lnTo>
                  <a:close/>
                </a:path>
              </a:pathLst>
            </a:custGeom>
            <a:solidFill>
              <a:srgbClr val="CAD0D8"/>
            </a:solidFill>
            <a:ln w="9525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221975" y="1271873"/>
            <a:ext cx="2768737" cy="511759"/>
            <a:chOff x="0" y="0"/>
            <a:chExt cx="3691649" cy="68234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91636" cy="682371"/>
            </a:xfrm>
            <a:custGeom>
              <a:avLst/>
              <a:gdLst/>
              <a:ahLst/>
              <a:cxnLst/>
              <a:rect r="r" b="b" t="t" l="l"/>
              <a:pathLst>
                <a:path h="682371" w="3691636">
                  <a:moveTo>
                    <a:pt x="0" y="0"/>
                  </a:moveTo>
                  <a:lnTo>
                    <a:pt x="3691636" y="0"/>
                  </a:lnTo>
                  <a:lnTo>
                    <a:pt x="3691636" y="682371"/>
                  </a:lnTo>
                  <a:lnTo>
                    <a:pt x="0" y="682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43" r="0" b="-5533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117662" y="1264120"/>
            <a:ext cx="2768737" cy="519513"/>
            <a:chOff x="0" y="0"/>
            <a:chExt cx="3691649" cy="6926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91649" cy="692684"/>
            </a:xfrm>
            <a:custGeom>
              <a:avLst/>
              <a:gdLst/>
              <a:ahLst/>
              <a:cxnLst/>
              <a:rect r="r" b="b" t="t" l="l"/>
              <a:pathLst>
                <a:path h="692684" w="3691649">
                  <a:moveTo>
                    <a:pt x="0" y="0"/>
                  </a:moveTo>
                  <a:lnTo>
                    <a:pt x="3691649" y="0"/>
                  </a:lnTo>
                  <a:lnTo>
                    <a:pt x="3691649" y="692684"/>
                  </a:lnTo>
                  <a:lnTo>
                    <a:pt x="0" y="692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45" r="0" b="-538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691649" cy="692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sz="1149" b="1">
                  <a:solidFill>
                    <a:srgbClr val="404040"/>
                  </a:solidFill>
                  <a:latin typeface="Tomorrow Bold"/>
                </a:rPr>
                <a:t>After: AICTE Central Treasury Portal (SIH26265)</a:t>
              </a:r>
            </a:p>
          </p:txBody>
        </p:sp>
      </p:grpSp>
      <p:graphicFrame>
        <p:nvGraphicFramePr>
          <p:cNvPr id="131" name="Chart Forecast Error WAPE" descr="Clustered bar chart: WAPE 3M 6.49 to 4.17, 6M 6.05 to 4.18, 12M 6.93 to 3.41 (naive baseline vs tri-model blend)"/>
          <p:cNvGraphicFramePr>
            <a:graphicFrameLocks noGrp="1"/>
          </p:cNvGraphicFramePr>
          <p:nvPr/>
        </p:nvGraphicFramePr>
        <p:xfrm>
          <a:off x="274320" y="1783080"/>
          <a:ext cx="3246120" cy="2971800"/>
        </p:xfrm>
        <a:graphic>
          <a:graphicData uri="http://schemas.openxmlformats.org/drawingml/2006/chart">
            <c:chart xmlns:c="http://schemas.openxmlformats.org/drawingml/2006/chart" r:id="rId61"/>
          </a:graphicData>
        </a:graphic>
      </p:graphicFrame>
      <p:graphicFrame>
        <p:nvGraphicFramePr>
          <p:cNvPr id="130" name="Chart Accuracy and Coverage" descr="Clustered bar chart: 12M accuracy 93.1 to 96.6, 80% PI coverage 64.2 to 84.8, 95% PI coverage 78.4 to 95.1 (naive baseline vs tri-model blend)"/>
          <p:cNvGraphicFramePr>
            <a:graphicFrameLocks noGrp="1"/>
          </p:cNvGraphicFramePr>
          <p:nvPr/>
        </p:nvGraphicFramePr>
        <p:xfrm>
          <a:off x="3566160" y="1783080"/>
          <a:ext cx="3108960" cy="2971800"/>
        </p:xfrm>
        <a:graphic>
          <a:graphicData uri="http://schemas.openxmlformats.org/drawingml/2006/chart">
            <c:chart xmlns:c="http://schemas.openxmlformats.org/drawingml/2006/chart" r:id="rId60"/>
          </a:graphicData>
        </a:graphic>
      </p:graphicFrame>
      <p:sp>
        <p:nvSpPr>
          <p:cNvPr name="Freeform 45" id="45"/>
          <p:cNvSpPr/>
          <p:nvPr/>
        </p:nvSpPr>
        <p:spPr>
          <a:xfrm flipH="false" flipV="false" rot="0">
            <a:off x="12599094" y="2057838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598109" y="1012098"/>
            <a:ext cx="3489179" cy="337661"/>
          </a:xfrm>
          <a:custGeom>
            <a:avLst/>
            <a:gdLst/>
            <a:ahLst/>
            <a:cxnLst/>
            <a:rect r="r" b="b" t="t" l="l"/>
            <a:pathLst>
              <a:path h="337661" w="3489179">
                <a:moveTo>
                  <a:pt x="0" y="0"/>
                </a:moveTo>
                <a:lnTo>
                  <a:pt x="3489179" y="0"/>
                </a:lnTo>
                <a:lnTo>
                  <a:pt x="3489179" y="337661"/>
                </a:lnTo>
                <a:lnTo>
                  <a:pt x="0" y="3376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7776753" y="4213327"/>
            <a:ext cx="4382967" cy="57788"/>
            <a:chOff x="0" y="0"/>
            <a:chExt cx="5843956" cy="770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43905" cy="77089"/>
            </a:xfrm>
            <a:custGeom>
              <a:avLst/>
              <a:gdLst/>
              <a:ahLst/>
              <a:cxnLst/>
              <a:rect r="r" b="b" t="t" l="l"/>
              <a:pathLst>
                <a:path h="77089" w="5843905">
                  <a:moveTo>
                    <a:pt x="0" y="0"/>
                  </a:moveTo>
                  <a:lnTo>
                    <a:pt x="5843905" y="0"/>
                  </a:lnTo>
                  <a:lnTo>
                    <a:pt x="5843905" y="77089"/>
                  </a:lnTo>
                  <a:lnTo>
                    <a:pt x="0" y="77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881">
                <a:alpha val="3922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776639" y="4244178"/>
            <a:ext cx="4383062" cy="38338"/>
            <a:chOff x="0" y="0"/>
            <a:chExt cx="5844083" cy="5111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44032" cy="51054"/>
            </a:xfrm>
            <a:custGeom>
              <a:avLst/>
              <a:gdLst/>
              <a:ahLst/>
              <a:cxnLst/>
              <a:rect r="r" b="b" t="t" l="l"/>
              <a:pathLst>
                <a:path h="51054" w="5844032">
                  <a:moveTo>
                    <a:pt x="0" y="25400"/>
                  </a:moveTo>
                  <a:lnTo>
                    <a:pt x="5843905" y="0"/>
                  </a:lnTo>
                  <a:lnTo>
                    <a:pt x="5844032" y="25654"/>
                  </a:lnTo>
                  <a:lnTo>
                    <a:pt x="127" y="51054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2353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776829" y="2673982"/>
            <a:ext cx="4382967" cy="57788"/>
            <a:chOff x="0" y="0"/>
            <a:chExt cx="5843956" cy="770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43905" cy="77089"/>
            </a:xfrm>
            <a:custGeom>
              <a:avLst/>
              <a:gdLst/>
              <a:ahLst/>
              <a:cxnLst/>
              <a:rect r="r" b="b" t="t" l="l"/>
              <a:pathLst>
                <a:path h="77089" w="5843905">
                  <a:moveTo>
                    <a:pt x="0" y="0"/>
                  </a:moveTo>
                  <a:lnTo>
                    <a:pt x="5843905" y="0"/>
                  </a:lnTo>
                  <a:lnTo>
                    <a:pt x="5843905" y="77089"/>
                  </a:lnTo>
                  <a:lnTo>
                    <a:pt x="0" y="77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881">
                <a:alpha val="3922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776715" y="2702881"/>
            <a:ext cx="4383062" cy="38338"/>
            <a:chOff x="0" y="0"/>
            <a:chExt cx="5844083" cy="511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44032" cy="51054"/>
            </a:xfrm>
            <a:custGeom>
              <a:avLst/>
              <a:gdLst/>
              <a:ahLst/>
              <a:cxnLst/>
              <a:rect r="r" b="b" t="t" l="l"/>
              <a:pathLst>
                <a:path h="51054" w="5844032">
                  <a:moveTo>
                    <a:pt x="0" y="25400"/>
                  </a:moveTo>
                  <a:lnTo>
                    <a:pt x="5843905" y="0"/>
                  </a:lnTo>
                  <a:lnTo>
                    <a:pt x="5844032" y="25654"/>
                  </a:lnTo>
                  <a:lnTo>
                    <a:pt x="127" y="51054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2353"/>
              </a:srgbClr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7403640" y="1024747"/>
            <a:ext cx="5174266" cy="4707188"/>
          </a:xfrm>
          <a:custGeom>
            <a:avLst/>
            <a:gdLst/>
            <a:ahLst/>
            <a:cxnLst/>
            <a:rect r="r" b="b" t="t" l="l"/>
            <a:pathLst>
              <a:path h="4707188" w="5174266">
                <a:moveTo>
                  <a:pt x="0" y="0"/>
                </a:moveTo>
                <a:lnTo>
                  <a:pt x="5174265" y="0"/>
                </a:lnTo>
                <a:lnTo>
                  <a:pt x="5174265" y="4707188"/>
                </a:lnTo>
                <a:lnTo>
                  <a:pt x="0" y="47071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7518883" y="1024747"/>
            <a:ext cx="4961496" cy="4707188"/>
          </a:xfrm>
          <a:custGeom>
            <a:avLst/>
            <a:gdLst/>
            <a:ahLst/>
            <a:cxnLst/>
            <a:rect r="r" b="b" t="t" l="l"/>
            <a:pathLst>
              <a:path h="4707188" w="4961496">
                <a:moveTo>
                  <a:pt x="0" y="0"/>
                </a:moveTo>
                <a:lnTo>
                  <a:pt x="4961496" y="0"/>
                </a:lnTo>
                <a:lnTo>
                  <a:pt x="4961496" y="4707188"/>
                </a:lnTo>
                <a:lnTo>
                  <a:pt x="0" y="47071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130357" y="5571296"/>
            <a:ext cx="2633424" cy="292579"/>
          </a:xfrm>
          <a:custGeom>
            <a:avLst/>
            <a:gdLst/>
            <a:ahLst/>
            <a:cxnLst/>
            <a:rect r="r" b="b" t="t" l="l"/>
            <a:pathLst>
              <a:path h="292579" w="2633424">
                <a:moveTo>
                  <a:pt x="0" y="0"/>
                </a:moveTo>
                <a:lnTo>
                  <a:pt x="2633424" y="0"/>
                </a:lnTo>
                <a:lnTo>
                  <a:pt x="2633424" y="292580"/>
                </a:lnTo>
                <a:lnTo>
                  <a:pt x="0" y="292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2599094" y="2869321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2599094" y="3723189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2599094" y="4560837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623359" y="6698580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2623359" y="7555830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623359" y="9258300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4" y="0"/>
                </a:lnTo>
                <a:lnTo>
                  <a:pt x="522181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634293" y="8368484"/>
            <a:ext cx="5221815" cy="38100"/>
          </a:xfrm>
          <a:custGeom>
            <a:avLst/>
            <a:gdLst/>
            <a:ahLst/>
            <a:cxnLst/>
            <a:rect r="r" b="b" t="t" l="l"/>
            <a:pathLst>
              <a:path h="38100" w="5221815">
                <a:moveTo>
                  <a:pt x="0" y="0"/>
                </a:moveTo>
                <a:lnTo>
                  <a:pt x="5221815" y="0"/>
                </a:lnTo>
                <a:lnTo>
                  <a:pt x="522181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6761559" y="1747237"/>
            <a:ext cx="636403" cy="3830431"/>
          </a:xfrm>
          <a:custGeom>
            <a:avLst/>
            <a:gdLst/>
            <a:ahLst/>
            <a:cxnLst/>
            <a:rect r="r" b="b" t="t" l="l"/>
            <a:pathLst>
              <a:path h="3830431" w="636403">
                <a:moveTo>
                  <a:pt x="0" y="0"/>
                </a:moveTo>
                <a:lnTo>
                  <a:pt x="636404" y="0"/>
                </a:lnTo>
                <a:lnTo>
                  <a:pt x="636404" y="3830432"/>
                </a:lnTo>
                <a:lnTo>
                  <a:pt x="0" y="383043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8637394" y="873128"/>
            <a:ext cx="2895095" cy="408184"/>
          </a:xfrm>
          <a:custGeom>
            <a:avLst/>
            <a:gdLst/>
            <a:ahLst/>
            <a:cxnLst/>
            <a:rect r="r" b="b" t="t" l="l"/>
            <a:pathLst>
              <a:path h="408184" w="2895095">
                <a:moveTo>
                  <a:pt x="0" y="0"/>
                </a:moveTo>
                <a:lnTo>
                  <a:pt x="2895095" y="0"/>
                </a:lnTo>
                <a:lnTo>
                  <a:pt x="2895095" y="408185"/>
                </a:lnTo>
                <a:lnTo>
                  <a:pt x="0" y="40818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849657" y="1095958"/>
            <a:ext cx="427918" cy="427918"/>
          </a:xfrm>
          <a:custGeom>
            <a:avLst/>
            <a:gdLst/>
            <a:ahLst/>
            <a:cxnLst/>
            <a:rect r="r" b="b" t="t" l="l"/>
            <a:pathLst>
              <a:path h="427918" w="427918">
                <a:moveTo>
                  <a:pt x="0" y="0"/>
                </a:moveTo>
                <a:lnTo>
                  <a:pt x="427918" y="0"/>
                </a:lnTo>
                <a:lnTo>
                  <a:pt x="427918" y="427918"/>
                </a:lnTo>
                <a:lnTo>
                  <a:pt x="0" y="42791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3528500" y="5492306"/>
            <a:ext cx="3628396" cy="453704"/>
          </a:xfrm>
          <a:custGeom>
            <a:avLst/>
            <a:gdLst/>
            <a:ahLst/>
            <a:cxnLst/>
            <a:rect r="r" b="b" t="t" l="l"/>
            <a:pathLst>
              <a:path h="453704" w="3628396">
                <a:moveTo>
                  <a:pt x="0" y="0"/>
                </a:moveTo>
                <a:lnTo>
                  <a:pt x="3628397" y="0"/>
                </a:lnTo>
                <a:lnTo>
                  <a:pt x="3628397" y="453704"/>
                </a:lnTo>
                <a:lnTo>
                  <a:pt x="0" y="45370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591918" y="945261"/>
            <a:ext cx="3489179" cy="433588"/>
          </a:xfrm>
          <a:custGeom>
            <a:avLst/>
            <a:gdLst/>
            <a:ahLst/>
            <a:cxnLst/>
            <a:rect r="r" b="b" t="t" l="l"/>
            <a:pathLst>
              <a:path h="433588" w="3489179">
                <a:moveTo>
                  <a:pt x="0" y="0"/>
                </a:moveTo>
                <a:lnTo>
                  <a:pt x="3489179" y="0"/>
                </a:lnTo>
                <a:lnTo>
                  <a:pt x="3489179" y="433588"/>
                </a:lnTo>
                <a:lnTo>
                  <a:pt x="0" y="43358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447018" y="5939504"/>
            <a:ext cx="34300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39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Key Insight (from Graph)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222752" y="5948362"/>
            <a:ext cx="448342" cy="448342"/>
          </a:xfrm>
          <a:custGeom>
            <a:avLst/>
            <a:gdLst/>
            <a:ahLst/>
            <a:cxnLst/>
            <a:rect r="r" b="b" t="t" l="l"/>
            <a:pathLst>
              <a:path h="448342" w="448342">
                <a:moveTo>
                  <a:pt x="0" y="0"/>
                </a:moveTo>
                <a:lnTo>
                  <a:pt x="448341" y="0"/>
                </a:lnTo>
                <a:lnTo>
                  <a:pt x="448341" y="448342"/>
                </a:lnTo>
                <a:lnTo>
                  <a:pt x="0" y="44834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919752" y="6162342"/>
            <a:ext cx="4600242" cy="3695976"/>
            <a:chOff x="0" y="0"/>
            <a:chExt cx="6133656" cy="49279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33719" cy="4927981"/>
            </a:xfrm>
            <a:custGeom>
              <a:avLst/>
              <a:gdLst/>
              <a:ahLst/>
              <a:cxnLst/>
              <a:rect r="r" b="b" t="t" l="l"/>
              <a:pathLst>
                <a:path h="4927981" w="6133719">
                  <a:moveTo>
                    <a:pt x="0" y="0"/>
                  </a:moveTo>
                  <a:lnTo>
                    <a:pt x="6133719" y="0"/>
                  </a:lnTo>
                  <a:lnTo>
                    <a:pt x="6133719" y="4927981"/>
                  </a:lnTo>
                  <a:lnTo>
                    <a:pt x="0" y="492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-35" t="0" r="-34" b="0"/>
              </a:stretch>
            </a:blipFill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10478691" y="6548438"/>
            <a:ext cx="1791729" cy="868975"/>
          </a:xfrm>
          <a:custGeom>
            <a:avLst/>
            <a:gdLst/>
            <a:ahLst/>
            <a:cxnLst/>
            <a:rect r="r" b="b" t="t" l="l"/>
            <a:pathLst>
              <a:path h="868975" w="1791729">
                <a:moveTo>
                  <a:pt x="0" y="0"/>
                </a:moveTo>
                <a:lnTo>
                  <a:pt x="1791728" y="0"/>
                </a:lnTo>
                <a:lnTo>
                  <a:pt x="1791728" y="868975"/>
                </a:lnTo>
                <a:lnTo>
                  <a:pt x="0" y="86897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9510055" y="7715726"/>
            <a:ext cx="1791729" cy="868975"/>
          </a:xfrm>
          <a:custGeom>
            <a:avLst/>
            <a:gdLst/>
            <a:ahLst/>
            <a:cxnLst/>
            <a:rect r="r" b="b" t="t" l="l"/>
            <a:pathLst>
              <a:path h="868975" w="1791729">
                <a:moveTo>
                  <a:pt x="0" y="0"/>
                </a:moveTo>
                <a:lnTo>
                  <a:pt x="1791729" y="0"/>
                </a:lnTo>
                <a:lnTo>
                  <a:pt x="1791729" y="868976"/>
                </a:lnTo>
                <a:lnTo>
                  <a:pt x="0" y="868976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472797" y="8838267"/>
            <a:ext cx="1791729" cy="868975"/>
          </a:xfrm>
          <a:custGeom>
            <a:avLst/>
            <a:gdLst/>
            <a:ahLst/>
            <a:cxnLst/>
            <a:rect r="r" b="b" t="t" l="l"/>
            <a:pathLst>
              <a:path h="868975" w="1791729">
                <a:moveTo>
                  <a:pt x="0" y="0"/>
                </a:moveTo>
                <a:lnTo>
                  <a:pt x="1791729" y="0"/>
                </a:lnTo>
                <a:lnTo>
                  <a:pt x="1791729" y="868975"/>
                </a:lnTo>
                <a:lnTo>
                  <a:pt x="0" y="86897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 descr="Your startup LOGO"/>
          <p:cNvSpPr/>
          <p:nvPr/>
        </p:nvSpPr>
        <p:spPr>
          <a:xfrm flipH="false" flipV="false" rot="0">
            <a:off x="267357" y="135150"/>
            <a:ext cx="2472700" cy="900703"/>
          </a:xfrm>
          <a:custGeom>
            <a:avLst/>
            <a:gdLst/>
            <a:ahLst/>
            <a:cxnLst/>
            <a:rect r="r" b="b" t="t" l="l"/>
            <a:pathLst>
              <a:path h="900703" w="2472700">
                <a:moveTo>
                  <a:pt x="0" y="0"/>
                </a:moveTo>
                <a:lnTo>
                  <a:pt x="2472700" y="0"/>
                </a:lnTo>
                <a:lnTo>
                  <a:pt x="2472700" y="900703"/>
                </a:lnTo>
                <a:lnTo>
                  <a:pt x="0" y="900703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274501" y="99431"/>
            <a:ext cx="2458450" cy="929269"/>
            <a:chOff x="0" y="0"/>
            <a:chExt cx="3277934" cy="123902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77938" cy="1239023"/>
            </a:xfrm>
            <a:custGeom>
              <a:avLst/>
              <a:gdLst/>
              <a:ahLst/>
              <a:cxnLst/>
              <a:rect r="r" b="b" t="t" l="l"/>
              <a:pathLst>
                <a:path h="1239023" w="3277938">
                  <a:moveTo>
                    <a:pt x="0" y="0"/>
                  </a:moveTo>
                  <a:lnTo>
                    <a:pt x="3277938" y="0"/>
                  </a:lnTo>
                  <a:lnTo>
                    <a:pt x="3277938" y="1239023"/>
                  </a:lnTo>
                  <a:lnTo>
                    <a:pt x="0" y="1239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" r="0" b="-154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3277934" cy="1296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Legacy Coderz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7804956" y="1666380"/>
            <a:ext cx="435940" cy="631793"/>
          </a:xfrm>
          <a:custGeom>
            <a:avLst/>
            <a:gdLst/>
            <a:ahLst/>
            <a:cxnLst/>
            <a:rect r="r" b="b" t="t" l="l"/>
            <a:pathLst>
              <a:path h="631793" w="435940">
                <a:moveTo>
                  <a:pt x="0" y="0"/>
                </a:moveTo>
                <a:lnTo>
                  <a:pt x="435941" y="0"/>
                </a:lnTo>
                <a:lnTo>
                  <a:pt x="435941" y="631793"/>
                </a:lnTo>
                <a:lnTo>
                  <a:pt x="0" y="631793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7804956" y="4511297"/>
            <a:ext cx="584825" cy="672208"/>
          </a:xfrm>
          <a:custGeom>
            <a:avLst/>
            <a:gdLst/>
            <a:ahLst/>
            <a:cxnLst/>
            <a:rect r="r" b="b" t="t" l="l"/>
            <a:pathLst>
              <a:path h="672208" w="584825">
                <a:moveTo>
                  <a:pt x="0" y="0"/>
                </a:moveTo>
                <a:lnTo>
                  <a:pt x="584826" y="0"/>
                </a:lnTo>
                <a:lnTo>
                  <a:pt x="584826" y="672208"/>
                </a:lnTo>
                <a:lnTo>
                  <a:pt x="0" y="67220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-185" t="0" r="-185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1624224" y="3194171"/>
            <a:ext cx="535553" cy="601742"/>
          </a:xfrm>
          <a:custGeom>
            <a:avLst/>
            <a:gdLst/>
            <a:ahLst/>
            <a:cxnLst/>
            <a:rect r="r" b="b" t="t" l="l"/>
            <a:pathLst>
              <a:path h="601742" w="535553">
                <a:moveTo>
                  <a:pt x="0" y="0"/>
                </a:moveTo>
                <a:lnTo>
                  <a:pt x="535553" y="0"/>
                </a:lnTo>
                <a:lnTo>
                  <a:pt x="535553" y="601742"/>
                </a:lnTo>
                <a:lnTo>
                  <a:pt x="0" y="60174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-35" t="0" r="-33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7919752" y="5867638"/>
            <a:ext cx="312715" cy="304895"/>
          </a:xfrm>
          <a:custGeom>
            <a:avLst/>
            <a:gdLst/>
            <a:ahLst/>
            <a:cxnLst/>
            <a:rect r="r" b="b" t="t" l="l"/>
            <a:pathLst>
              <a:path h="304895" w="312715">
                <a:moveTo>
                  <a:pt x="0" y="0"/>
                </a:moveTo>
                <a:lnTo>
                  <a:pt x="312715" y="0"/>
                </a:lnTo>
                <a:lnTo>
                  <a:pt x="312715" y="304895"/>
                </a:lnTo>
                <a:lnTo>
                  <a:pt x="0" y="30489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-1280" r="0" b="-1283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44501" y="6310436"/>
            <a:ext cx="7750931" cy="3587382"/>
            <a:chOff x="0" y="0"/>
            <a:chExt cx="10334574" cy="478317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334625" cy="4783201"/>
            </a:xfrm>
            <a:custGeom>
              <a:avLst/>
              <a:gdLst/>
              <a:ahLst/>
              <a:cxnLst/>
              <a:rect r="r" b="b" t="t" l="l"/>
              <a:pathLst>
                <a:path h="4783201" w="10334625">
                  <a:moveTo>
                    <a:pt x="0" y="0"/>
                  </a:moveTo>
                  <a:lnTo>
                    <a:pt x="10334625" y="0"/>
                  </a:lnTo>
                  <a:lnTo>
                    <a:pt x="10334625" y="4783201"/>
                  </a:lnTo>
                  <a:lnTo>
                    <a:pt x="0" y="4783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/>
              <a:stretch>
                <a:fillRect l="0" t="-10" r="0" b="-9"/>
              </a:stretch>
            </a:blip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2707350" y="1062238"/>
            <a:ext cx="518371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Potential Challenges &amp; Risks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186757" y="1386088"/>
            <a:ext cx="4155538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531" indent="-115844" lvl="2">
              <a:lnSpc>
                <a:spcPts val="1739"/>
              </a:lnSpc>
              <a:buFont typeface="Arial"/>
              <a:buChar char="⚬"/>
            </a:pPr>
            <a:r>
              <a:rPr sz="1449" b="1">
                <a:solidFill>
                  <a:srgbClr val="000000"/>
                </a:solidFill>
                <a:latin typeface="Tomorrow Bold"/>
              </a:rPr>
              <a:t>Technically Viable : </a:t>
            </a:r>
            <a:r>
              <a:rPr sz="1449" b="0">
                <a:solidFill>
                  <a:srgbClr val="000000"/>
                </a:solidFill>
                <a:latin typeface="Tomorrow"/>
              </a:rPr>
              <a:t>100% operational Next.js 14 terminal;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45 automated unit tests pass</a:t>
            </a:r>
            <a:r>
              <a:rPr sz="1449" b="0">
                <a:solidFill>
                  <a:srgbClr val="000000"/>
                </a:solidFill>
                <a:latin typeface="Tomorrow"/>
              </a:rPr>
              <a:t> (100% suite green);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deterministic 8-rule discrepancy engine</a:t>
            </a:r>
            <a:r>
              <a:rPr sz="1449" b="0">
                <a:solidFill>
                  <a:srgbClr val="000000"/>
                </a:solidFill>
                <a:latin typeface="Tomorrow"/>
              </a:rPr>
              <a:t> and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SHA-256 Merkle-style audit ledger</a:t>
            </a:r>
            <a:r>
              <a:rPr sz="1449" b="0">
                <a:solidFill>
                  <a:srgbClr val="000000"/>
                </a:solidFill>
                <a:latin typeface="Tomorrow"/>
              </a:rPr>
              <a:t>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715831" y="2822677"/>
            <a:ext cx="371536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531" indent="-115844" lvl="2">
              <a:lnSpc>
                <a:spcPts val="1739"/>
              </a:lnSpc>
              <a:buFont typeface="Arial"/>
              <a:buChar char="⚬"/>
            </a:pPr>
            <a:r>
              <a:rPr sz="1449" b="1">
                <a:solidFill>
                  <a:srgbClr val="000000"/>
                </a:solidFill>
                <a:latin typeface="Tomorrow Bold"/>
              </a:rPr>
              <a:t>Operationally Practical : </a:t>
            </a:r>
            <a:r>
              <a:rPr sz="1449" b="0">
                <a:solidFill>
                  <a:srgbClr val="000000"/>
                </a:solidFill>
                <a:latin typeface="Tomorrow"/>
              </a:rPr>
              <a:t>Lightweight container deployable on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NIC MeghRaj cloud (~4 vCPU, 16GB RAM)</a:t>
            </a:r>
            <a:r>
              <a:rPr sz="1449" b="0">
                <a:solidFill>
                  <a:srgbClr val="000000"/>
                </a:solidFill>
                <a:latin typeface="Tomorrow"/>
              </a:rPr>
              <a:t>;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bilingual Hindi–English UI</a:t>
            </a:r>
            <a:r>
              <a:rPr sz="1449" b="0">
                <a:solidFill>
                  <a:srgbClr val="000000"/>
                </a:solidFill>
                <a:latin typeface="Tomorrow"/>
              </a:rPr>
              <a:t>,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10-year renewal wizard</a:t>
            </a:r>
            <a:r>
              <a:rPr sz="1449" b="0">
                <a:solidFill>
                  <a:srgbClr val="000000"/>
                </a:solidFill>
                <a:latin typeface="Tomorrow"/>
              </a:rPr>
              <a:t>, human-in-the-loop OCR review.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298551" y="4359535"/>
            <a:ext cx="410375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531" indent="-115844" lvl="2">
              <a:lnSpc>
                <a:spcPts val="1739"/>
              </a:lnSpc>
              <a:buFont typeface="Arial"/>
              <a:buChar char="⚬"/>
            </a:pPr>
            <a:r>
              <a:rPr sz="1449" b="1">
                <a:solidFill>
                  <a:srgbClr val="000000"/>
                </a:solidFill>
                <a:latin typeface="Tomorrow Bold"/>
              </a:rPr>
              <a:t>Economically Scalable : </a:t>
            </a:r>
            <a:r>
              <a:rPr sz="1449" b="0">
                <a:solidFill>
                  <a:srgbClr val="000000"/>
                </a:solidFill>
                <a:latin typeface="Tomorrow"/>
              </a:rPr>
              <a:t>100% open-source software stack (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TypeScript, Next.js, Tailwind, SQLite/Prisma</a:t>
            </a:r>
            <a:r>
              <a:rPr sz="1449" b="0">
                <a:solidFill>
                  <a:srgbClr val="000000"/>
                </a:solidFill>
                <a:latin typeface="Tomorrow"/>
              </a:rPr>
              <a:t>);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zero licensing fees</a:t>
            </a:r>
            <a:r>
              <a:rPr sz="1449" b="0">
                <a:solidFill>
                  <a:srgbClr val="000000"/>
                </a:solidFill>
                <a:latin typeface="Tomorrow"/>
              </a:rPr>
              <a:t>; scales from regional pilot to all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10,000+ colleges pan-India</a:t>
            </a:r>
            <a:r>
              <a:rPr sz="1449" b="0">
                <a:solidFill>
                  <a:srgbClr val="000000"/>
                </a:solidFill>
                <a:latin typeface="Tomorrow"/>
              </a:rPr>
              <a:t>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30503" y="7878709"/>
            <a:ext cx="502268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KEY INSIGHTS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786655" y="5627494"/>
            <a:ext cx="518371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998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Strategies to Overcome Challenges</a:t>
            </a:r>
          </a:p>
        </p:txBody>
      </p:sp>
      <p:sp>
        <p:nvSpPr>
          <p:cNvPr name="TextBox 93" id="93"/>
          <p:cNvSpPr txBox="true"/>
          <p:nvPr/>
        </p:nvSpPr>
        <p:spPr>
          <a:xfrm rot="5400000">
            <a:off x="5129842" y="3399482"/>
            <a:ext cx="3617890" cy="58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7"/>
              </a:lnSpc>
            </a:pPr>
            <a:r>
              <a:rPr sz="2481" b="1">
                <a:solidFill>
                  <a:srgbClr val="FFFFFF"/>
                </a:solidFill>
                <a:latin typeface="Trade Gothic Condensed Bold"/>
              </a:rPr>
              <a:t>VERIFIED REGULATORY PERFORMANCE GAINS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707350" y="1419663"/>
            <a:ext cx="46754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Bank CBS API Heterogeneity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Varied CBS tech stacks across public, private, and co-operative banks.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701730" y="2219763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OCR Scan Degeneration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Low-resolution phone scans, folded certificates, and skewed orientations.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660754" y="3012196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False Positives on Mergers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Bank mergers (e.g. Syndicate into Canara) causing legacy IFSC codes.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632884" y="3856539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Data Privacy Under DPDP Act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Exposing unmasked bank account &amp; CIF numbers to statutory auditors.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660754" y="4720104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Officer Change Resistance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Skepticism toward automated priority queues and unfamiliarity with UI.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701730" y="6048499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Standard SFMS MT760/767 Protocols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Direct bank-to-treasury advice with fallback to certified manual verification.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701730" y="6870030"/>
            <a:ext cx="495873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Laser Sweep Bounding Boxes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Real-time coordinate overlays with per-field confidence meters &amp; human confirmation.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707350" y="7736805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Canonical IFSC Mapping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Canonical mapping supports legacy branch codes with audited officer override notes.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701730" y="8549459"/>
            <a:ext cx="49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Role-Based Automated Masking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Server-side RBAC masks sensitive account strings for AUDITOR inspection role.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701730" y="9391650"/>
            <a:ext cx="498088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427" indent="-117476" lvl="2">
              <a:lnSpc>
                <a:spcPts val="1609"/>
              </a:lnSpc>
              <a:buFont typeface="Arial"/>
              <a:buChar char="⚬"/>
            </a:pPr>
            <a:r>
              <a:rPr sz="1400" b="1">
                <a:solidFill>
                  <a:srgbClr val="000000"/>
                </a:solidFill>
                <a:latin typeface="Tomorrow Bold"/>
              </a:rPr>
              <a:t>100% Explainable Attention Score — </a:t>
            </a:r>
            <a:r>
              <a:rPr sz="1400" b="0">
                <a:solidFill>
                  <a:srgbClr val="000000"/>
                </a:solidFill>
                <a:latin typeface="Tomorrow"/>
              </a:rPr>
              <a:t>Transparent formula modal and interactive guided scenario player in header.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191787" y="7915265"/>
            <a:ext cx="210051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9609" indent="-99870" lvl="2">
              <a:lnSpc>
                <a:spcPts val="1319"/>
              </a:lnSpc>
              <a:buFont typeface="Arial"/>
              <a:buChar char="⚬"/>
            </a:pPr>
            <a:r>
              <a:rPr sz="1199" b="1">
                <a:solidFill>
                  <a:srgbClr val="000000"/>
                </a:solidFill>
                <a:latin typeface="Tomorrow Bold"/>
              </a:rPr>
              <a:t>EVC Deficit &amp; Short Tenures</a:t>
            </a:r>
          </a:p>
          <a:p>
            <a:pPr algn="ctr" marL="299609" indent="-99870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Mandated 120-Mo Lock-in Lapsed</a:t>
            </a:r>
          </a:p>
          <a:p>
            <a:pPr algn="ctr" marL="299609" indent="-99870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Attention Queue Triage (Remediation)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140503" y="5861152"/>
            <a:ext cx="41723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sz="1998" b="1">
                <a:solidFill>
                  <a:srgbClr val="000000"/>
                </a:solidFill>
                <a:latin typeface="Trade Gothic Condensed Bold"/>
              </a:rPr>
              <a:t>Regulatory Validation ( 8 Rules • 100-pt Score • SHA-256 )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242299" y="6738938"/>
            <a:ext cx="209999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06938" indent="-102313" lvl="2">
              <a:lnSpc>
                <a:spcPts val="1319"/>
              </a:lnSpc>
              <a:buFont typeface="Arial"/>
              <a:buChar char="⚬"/>
            </a:pPr>
            <a:r>
              <a:rPr sz="1199" b="1">
                <a:solidFill>
                  <a:srgbClr val="000000"/>
                </a:solidFill>
                <a:latin typeface="Tomorrow Bold"/>
              </a:rPr>
              <a:t>Fatal Forgery Dossiers</a:t>
            </a:r>
          </a:p>
          <a:p>
            <a:pPr algn="ctr" marL="306938" indent="-102313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Conflicting Bank &amp; IFSC Codes</a:t>
            </a:r>
          </a:p>
          <a:p>
            <a:pPr algn="ctr" marL="306938" indent="-102313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Immediate Scrutiny Halt (100-pt Flag)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151276" y="9085774"/>
            <a:ext cx="2099996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00226" indent="-100075" lvl="2">
              <a:lnSpc>
                <a:spcPts val="1319"/>
              </a:lnSpc>
              <a:buFont typeface="Arial"/>
              <a:buChar char="⚬"/>
            </a:pPr>
            <a:r>
              <a:rPr sz="1199" b="1">
                <a:solidFill>
                  <a:srgbClr val="000000"/>
                </a:solidFill>
                <a:latin typeface="Tomorrow Bold"/>
              </a:rPr>
              <a:t>Approved 3-Yr EoA Deposits</a:t>
            </a:r>
          </a:p>
          <a:p>
            <a:pPr algn="ctr" marL="300226" indent="-100075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Joint RO Lien Confirmed in CBS</a:t>
            </a:r>
          </a:p>
          <a:p>
            <a:pPr algn="ctr" marL="300226" indent="-100075" lvl="2">
              <a:lnSpc>
                <a:spcPts val="1319"/>
              </a:lnSpc>
              <a:buFont typeface="Arial"/>
              <a:buChar char="⚬"/>
            </a:pPr>
            <a:r>
              <a:rPr sz="1199" b="0">
                <a:solidFill>
                  <a:srgbClr val="000000"/>
                </a:solidFill>
                <a:latin typeface="Tomorrow"/>
              </a:rPr>
              <a:t>Release-Ready Queue (Zero Deficit)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032883" y="6405086"/>
            <a:ext cx="260000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sz="1698" b="1">
                <a:solidFill>
                  <a:srgbClr val="000000"/>
                </a:solidFill>
                <a:latin typeface="Trade Gothic Condensed Bold"/>
              </a:rPr>
              <a:t>CRITICAL RISK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8994991" y="7572851"/>
            <a:ext cx="260000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sz="1698" b="1">
                <a:solidFill>
                  <a:srgbClr val="1A1A1A"/>
                </a:solidFill>
                <a:latin typeface="Trade Gothic Condensed Bold"/>
              </a:rPr>
              <a:t>PENDING COMPLIANCE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976321" y="8718052"/>
            <a:ext cx="260000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sz="1698" b="1">
                <a:solidFill>
                  <a:srgbClr val="000000"/>
                </a:solidFill>
                <a:latin typeface="Trade Gothic Condensed Bold"/>
              </a:rPr>
              <a:t>STATUTORY COMPLIANT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503490" y="978284"/>
            <a:ext cx="5183715" cy="3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b="true" sz="1998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FEASIBILITY &amp; SCALABILITY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14925" y="4729629"/>
            <a:ext cx="63797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400" b="1">
                <a:solidFill>
                  <a:srgbClr val="1F3864"/>
                </a:solidFill>
                <a:latin typeface="Tomorrow Bold"/>
              </a:rPr>
              <a:t>Verification: </a:t>
            </a:r>
            <a:r>
              <a:rPr sz="1400" b="0">
                <a:solidFill>
                  <a:srgbClr val="1F3864"/>
                </a:solidFill>
                <a:latin typeface="Tomorrow"/>
              </a:rPr>
              <a:t>45d → </a:t>
            </a:r>
            <a:r>
              <a:rPr sz="1400" b="1">
                <a:solidFill>
                  <a:srgbClr val="1F3864"/>
                </a:solidFill>
                <a:latin typeface="Tomorrow Bold"/>
              </a:rPr>
              <a:t>1.5d (96.6% cut)</a:t>
            </a:r>
            <a:r>
              <a:rPr sz="1400" b="0">
                <a:solidFill>
                  <a:srgbClr val="1F3864"/>
                </a:solidFill>
                <a:latin typeface="Tomorrow"/>
              </a:rPr>
              <a:t> | </a:t>
            </a:r>
            <a:r>
              <a:rPr sz="1400" b="1">
                <a:solidFill>
                  <a:srgbClr val="1F3864"/>
                </a:solidFill>
                <a:latin typeface="Tomorrow Bold"/>
              </a:rPr>
              <a:t>Discrepancy Intercept: </a:t>
            </a:r>
            <a:r>
              <a:rPr sz="1400" b="0">
                <a:solidFill>
                  <a:srgbClr val="1F3864"/>
                </a:solidFill>
                <a:latin typeface="Tomorrow"/>
              </a:rPr>
              <a:t>35% → </a:t>
            </a:r>
            <a:r>
              <a:rPr sz="1400" b="1">
                <a:solidFill>
                  <a:srgbClr val="1F3864"/>
                </a:solidFill>
                <a:latin typeface="Tomorrow Bold"/>
              </a:rPr>
              <a:t>100%</a:t>
            </a:r>
            <a:r>
              <a:rPr sz="1400" b="0">
                <a:solidFill>
                  <a:srgbClr val="1F3864"/>
                </a:solidFill>
                <a:latin typeface="Tomorrow"/>
              </a:rPr>
              <a:t> | </a:t>
            </a:r>
            <a:r>
              <a:rPr sz="1400" b="1">
                <a:solidFill>
                  <a:srgbClr val="1F3864"/>
                </a:solidFill>
                <a:latin typeface="Tomorrow Bold"/>
              </a:rPr>
              <a:t>Premature Leakage: </a:t>
            </a:r>
            <a:r>
              <a:rPr sz="1400" b="1">
                <a:solidFill>
                  <a:srgbClr val="1F3864"/>
                </a:solidFill>
                <a:latin typeface="Tomorrow Bold"/>
              </a:rPr>
              <a:t>Zero (3 Blocked)</a:t>
            </a:r>
          </a:p>
          <a:p>
            <a:pPr algn="ctr">
              <a:lnSpc>
                <a:spcPts val="1380"/>
              </a:lnSpc>
            </a:pPr>
            <a:r>
              <a:rPr sz="1200" b="0">
                <a:solidFill>
                  <a:srgbClr val="1F3864"/>
                </a:solidFill>
                <a:latin typeface="Tomorrow"/>
              </a:rPr>
              <a:t>Validated on </a:t>
            </a:r>
            <a:r>
              <a:rPr sz="1200" b="1">
                <a:solidFill>
                  <a:srgbClr val="1F3864"/>
                </a:solidFill>
                <a:latin typeface="Tomorrow Bold"/>
              </a:rPr>
              <a:t>140-FDR</a:t>
            </a:r>
            <a:r>
              <a:rPr sz="1200" b="0">
                <a:solidFill>
                  <a:srgbClr val="1F3864"/>
                </a:solidFill>
                <a:latin typeface="Tomorrow"/>
              </a:rPr>
              <a:t> synthetic regulatory benchmark • </a:t>
            </a:r>
            <a:r>
              <a:rPr sz="1200" b="1">
                <a:solidFill>
                  <a:srgbClr val="1F3864"/>
                </a:solidFill>
                <a:latin typeface="Tomorrow Bold"/>
              </a:rPr>
              <a:t>60</a:t>
            </a:r>
            <a:r>
              <a:rPr sz="1200" b="0">
                <a:solidFill>
                  <a:srgbClr val="1F3864"/>
                </a:solidFill>
                <a:latin typeface="Tomorrow"/>
              </a:rPr>
              <a:t> institutions • </a:t>
            </a:r>
            <a:r>
              <a:rPr sz="1200" b="1">
                <a:solidFill>
                  <a:srgbClr val="1F3864"/>
                </a:solidFill>
                <a:latin typeface="Tomorrow Bold"/>
              </a:rPr>
              <a:t>8</a:t>
            </a:r>
            <a:r>
              <a:rPr sz="1200" b="0">
                <a:solidFill>
                  <a:srgbClr val="1F3864"/>
                </a:solidFill>
                <a:latin typeface="Tomorrow"/>
              </a:rPr>
              <a:t> AICTE regions • </a:t>
            </a:r>
            <a:r>
              <a:rPr sz="1200" b="1">
                <a:solidFill>
                  <a:srgbClr val="1F3864"/>
                </a:solidFill>
                <a:latin typeface="Tomorrow Bold"/>
              </a:rPr>
              <a:t>100% deterministic rules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6972300" y="9929479"/>
            <a:ext cx="4806001" cy="547688"/>
            <a:chOff x="0" y="0"/>
            <a:chExt cx="6408001" cy="7302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972300" y="9908048"/>
            <a:ext cx="4806001" cy="569119"/>
            <a:chOff x="0" y="0"/>
            <a:chExt cx="6408001" cy="75882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408001" cy="758826"/>
            </a:xfrm>
            <a:custGeom>
              <a:avLst/>
              <a:gdLst/>
              <a:ahLst/>
              <a:cxnLst/>
              <a:rect r="r" b="b" t="t" l="l"/>
              <a:pathLst>
                <a:path h="758826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58826"/>
                  </a:lnTo>
                  <a:lnTo>
                    <a:pt x="0" y="758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3" r="0" b="-11454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338842" y="7039261"/>
            <a:ext cx="2242556" cy="861984"/>
            <a:chOff x="0" y="0"/>
            <a:chExt cx="2990075" cy="114931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990080" cy="1149312"/>
            </a:xfrm>
            <a:custGeom>
              <a:avLst/>
              <a:gdLst/>
              <a:ahLst/>
              <a:cxnLst/>
              <a:rect r="r" b="b" t="t" l="l"/>
              <a:pathLst>
                <a:path h="1149312" w="2990080">
                  <a:moveTo>
                    <a:pt x="0" y="0"/>
                  </a:moveTo>
                  <a:lnTo>
                    <a:pt x="2990080" y="0"/>
                  </a:lnTo>
                  <a:lnTo>
                    <a:pt x="2990080" y="1149312"/>
                  </a:lnTo>
                  <a:lnTo>
                    <a:pt x="0" y="1149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" r="0" b="-69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2990075" cy="1149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sz="1050" b="1">
                  <a:solidFill>
                    <a:srgbClr val="0F172A"/>
                  </a:solidFill>
                  <a:latin typeface="Tomorrow Bold"/>
                </a:rPr>
                <a:t>96.6% Turnaround Reduction</a:t>
              </a:r>
              <a:r>
                <a:rPr sz="1050" b="0">
                  <a:solidFill>
                    <a:srgbClr val="0F172A"/>
                  </a:solidFill>
                  <a:latin typeface="Tomorrow"/>
                </a:rPr>
                <a:t> — Automated CBS queries &amp; SFMS MT760 protocols cut bank verification from 45 days of postal delay to 1.5 days.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5244436" y="7039261"/>
            <a:ext cx="2312641" cy="876005"/>
            <a:chOff x="0" y="0"/>
            <a:chExt cx="3083522" cy="116800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083520" cy="1168000"/>
            </a:xfrm>
            <a:custGeom>
              <a:avLst/>
              <a:gdLst/>
              <a:ahLst/>
              <a:cxnLst/>
              <a:rect r="r" b="b" t="t" l="l"/>
              <a:pathLst>
                <a:path h="1168000" w="3083520">
                  <a:moveTo>
                    <a:pt x="0" y="0"/>
                  </a:moveTo>
                  <a:lnTo>
                    <a:pt x="3083520" y="0"/>
                  </a:lnTo>
                  <a:lnTo>
                    <a:pt x="3083520" y="1168000"/>
                  </a:lnTo>
                  <a:lnTo>
                    <a:pt x="0" y="11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3083522" cy="1168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sz="1050" b="1">
                  <a:solidFill>
                    <a:srgbClr val="0F172A"/>
                  </a:solidFill>
                  <a:latin typeface="Tomorrow Bold"/>
                </a:rPr>
                <a:t>Instant OCR Laser Scanner (&lt;250 ms)</a:t>
              </a:r>
              <a:r>
                <a:rPr sz="1050" b="0">
                  <a:solidFill>
                    <a:srgbClr val="0F172A"/>
                  </a:solidFill>
                  <a:latin typeface="Tomorrow"/>
                </a:rPr>
                <a:t> — Next.js 14 + OCR engine runs on lightweight CPU/edge container; extracts coordinates with per-field confidence meters.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52854" y="8875357"/>
            <a:ext cx="2298621" cy="791908"/>
            <a:chOff x="0" y="0"/>
            <a:chExt cx="3064828" cy="105587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064832" cy="1055872"/>
            </a:xfrm>
            <a:custGeom>
              <a:avLst/>
              <a:gdLst/>
              <a:ahLst/>
              <a:cxnLst/>
              <a:rect r="r" b="b" t="t" l="l"/>
              <a:pathLst>
                <a:path h="1055872" w="3064832">
                  <a:moveTo>
                    <a:pt x="0" y="0"/>
                  </a:moveTo>
                  <a:lnTo>
                    <a:pt x="3064832" y="0"/>
                  </a:lnTo>
                  <a:lnTo>
                    <a:pt x="3064832" y="1055872"/>
                  </a:lnTo>
                  <a:lnTo>
                    <a:pt x="0" y="1055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7" r="0" b="-655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3064828" cy="1055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sz="1050" b="1">
                  <a:solidFill>
                    <a:srgbClr val="0F172A"/>
                  </a:solidFill>
                  <a:latin typeface="Tomorrow Bold"/>
                </a:rPr>
                <a:t>100% Discrepancy Intercept</a:t>
              </a:r>
              <a:r>
                <a:rPr sz="1050" b="0">
                  <a:solidFill>
                    <a:srgbClr val="0F172A"/>
                  </a:solidFill>
                  <a:latin typeface="Tomorrow"/>
                </a:rPr>
                <a:t> — 8-rule deterministic engine catches IFSC mismatches, temporal date inversions, and duplicate pledges across colleges.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244436" y="8889378"/>
            <a:ext cx="2312641" cy="791908"/>
            <a:chOff x="0" y="0"/>
            <a:chExt cx="3083522" cy="105587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083520" cy="1055872"/>
            </a:xfrm>
            <a:custGeom>
              <a:avLst/>
              <a:gdLst/>
              <a:ahLst/>
              <a:cxnLst/>
              <a:rect r="r" b="b" t="t" l="l"/>
              <a:pathLst>
                <a:path h="1055872" w="3083520">
                  <a:moveTo>
                    <a:pt x="0" y="0"/>
                  </a:moveTo>
                  <a:lnTo>
                    <a:pt x="3083520" y="0"/>
                  </a:lnTo>
                  <a:lnTo>
                    <a:pt x="3083520" y="1055872"/>
                  </a:lnTo>
                  <a:lnTo>
                    <a:pt x="0" y="1055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2" r="0" b="-690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3083522" cy="1055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sz="1050" b="1">
                  <a:solidFill>
                    <a:srgbClr val="0F172A"/>
                  </a:solidFill>
                  <a:latin typeface="Tomorrow Bold"/>
                </a:rPr>
                <a:t>100% Cryptographic Audit Trail</a:t>
              </a:r>
              <a:r>
                <a:rPr sz="1050" b="0">
                  <a:solidFill>
                    <a:srgbClr val="0F172A"/>
                  </a:solidFill>
                  <a:latin typeface="Tomorrow"/>
                </a:rPr>
                <a:t> — SHA-256 append-only chained ledger gives Regulation Bureau &amp; statutory auditors tamper-evident proof.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DAHXf1cTlAI</dc:identifier>
  <dcterms:modified xsi:type="dcterms:W3CDTF">2011-08-01T06:04:30Z</dcterms:modified>
  <cp:revision>1</cp:revision>
  <dc:title>SIH26246</dc:title>
</cp:coreProperties>
</file>