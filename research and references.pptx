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rade Gothic Condensed Bold" charset="1" panose="020B0806040303020004"/>
      <p:regular r:id="rId7"/>
    </p:embeddedFont>
    <p:embeddedFont>
      <p:font typeface="Calibri (MS) Bold" charset="1" panose="020F0702030404030204"/>
      <p:regular r:id="rId8"/>
    </p:embeddedFont>
    <p:embeddedFont>
      <p:font typeface="Trade Gothic Condensed" charset="1" panose="020B0506040303020004"/>
      <p:regular r:id="rId9"/>
    </p:embeddedFont>
    <p:embeddedFont>
      <p:font typeface="Tomorrow Bold" charset="1" panose="00000000000000000000"/>
      <p:regular r:id="rId10"/>
    </p:embeddedFont>
    <p:embeddedFont>
      <p:font typeface="Tomorrow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hyperlink" Target="https://cag.gov.in/uploads/PressRelease/PR-Press-Brief-Report-No-20-of-2025-English-06944f390e59d02-19424340.pdf" TargetMode="External"/><Relationship Id="rId10" Type="http://schemas.openxmlformats.org/officeDocument/2006/relationships/hyperlink" Target="https://prsindia.org/files/policy/policy_committee_reports/CAG_Summary-PMKVY.pdf" TargetMode="External"/><Relationship Id="rId11" Type="http://schemas.openxmlformats.org/officeDocument/2006/relationships/hyperlink" Target="https://news.careers360.com/niti-aayog-iti-study-placement-admission-students-teachers-vocational-education" TargetMode="External"/><Relationship Id="rId12" Type="http://schemas.openxmlformats.org/officeDocument/2006/relationships/hyperlink" Target="https://eparlib.nic.in/bitstream/123456789/1930646/1/AU3028.pdf" TargetMode="External"/><Relationship Id="rId13" Type="http://schemas.openxmlformats.org/officeDocument/2006/relationships/hyperlink" Target="https://papers.nips.cc/paper/6907-lightgbm-a-highly-efficient-gradient-boosting-decision-tree" TargetMode="External"/><Relationship Id="rId14" Type="http://schemas.openxmlformats.org/officeDocument/2006/relationships/hyperlink" Target="https://github.com/microsoft/LightGBM" TargetMode="External"/><Relationship Id="rId15" Type="http://schemas.openxmlformats.org/officeDocument/2006/relationships/hyperlink" Target="https://arxiv.org/abs/1705.07874" TargetMode="External"/><Relationship Id="rId16" Type="http://schemas.openxmlformats.org/officeDocument/2006/relationships/hyperlink" Target="https://shap.readthedocs.io" TargetMode="External"/><Relationship Id="rId17" Type="http://schemas.openxmlformats.org/officeDocument/2006/relationships/hyperlink" Target="https://doi.org/10.1016/j.ijforecast.2006.03.001" TargetMode="External"/><Relationship Id="rId18" Type="http://schemas.openxmlformats.org/officeDocument/2006/relationships/hyperlink" Target="https://github.com/coin-or/pulp" TargetMode="External"/><Relationship Id="rId19" Type="http://schemas.openxmlformats.org/officeDocument/2006/relationships/hyperlink" Target="https://coin-or.github.io/pulp/" TargetMode="External"/><Relationship Id="rId20" Type="http://schemas.openxmlformats.org/officeDocument/2006/relationships/hyperlink" Target="https://www.ncs.gov.in" TargetMode="External"/><Relationship Id="rId21" Type="http://schemas.openxmlformats.org/officeDocument/2006/relationships/hyperlink" Target="https://ncvet.gov.in" TargetMode="External"/><Relationship Id="rId22" Type="http://schemas.openxmlformats.org/officeDocument/2006/relationships/hyperlink" Target="https://lgdirectory.gov.in" TargetMode="External"/><Relationship Id="rId23" Type="http://schemas.openxmlformats.org/officeDocument/2006/relationships/hyperlink" Target="https://github.com/aquasimp/SIH26246" TargetMode="External"/><Relationship Id="rId24" Type="http://schemas.openxmlformats.org/officeDocument/2006/relationships/hyperlink" Target="https://github.com/aquasimp/SIH26246" TargetMode="External"/><Relationship Id="rId25" Type="http://schemas.openxmlformats.org/officeDocument/2006/relationships/hyperlink" Target="https://github.com/aquasimp/SIH26246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891" y="1290828"/>
            <a:ext cx="6615542" cy="8596273"/>
            <a:chOff x="0" y="0"/>
            <a:chExt cx="1742365" cy="2264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2365" cy="2264039"/>
            </a:xfrm>
            <a:custGeom>
              <a:avLst/>
              <a:gdLst/>
              <a:ahLst/>
              <a:cxnLst/>
              <a:rect r="r" b="b" t="t" l="l"/>
              <a:pathLst>
                <a:path h="2264039" w="1742365">
                  <a:moveTo>
                    <a:pt x="12873" y="0"/>
                  </a:moveTo>
                  <a:lnTo>
                    <a:pt x="1729492" y="0"/>
                  </a:lnTo>
                  <a:cubicBezTo>
                    <a:pt x="1732906" y="0"/>
                    <a:pt x="1736181" y="1356"/>
                    <a:pt x="1738595" y="3770"/>
                  </a:cubicBezTo>
                  <a:cubicBezTo>
                    <a:pt x="1741009" y="6185"/>
                    <a:pt x="1742365" y="9459"/>
                    <a:pt x="1742365" y="12873"/>
                  </a:cubicBezTo>
                  <a:lnTo>
                    <a:pt x="1742365" y="2251166"/>
                  </a:lnTo>
                  <a:cubicBezTo>
                    <a:pt x="1742365" y="2254580"/>
                    <a:pt x="1741009" y="2257854"/>
                    <a:pt x="1738595" y="2260269"/>
                  </a:cubicBezTo>
                  <a:cubicBezTo>
                    <a:pt x="1736181" y="2262683"/>
                    <a:pt x="1732906" y="2264039"/>
                    <a:pt x="1729492" y="2264039"/>
                  </a:cubicBezTo>
                  <a:lnTo>
                    <a:pt x="12873" y="2264039"/>
                  </a:lnTo>
                  <a:cubicBezTo>
                    <a:pt x="9459" y="2264039"/>
                    <a:pt x="6185" y="2262683"/>
                    <a:pt x="3770" y="2260269"/>
                  </a:cubicBezTo>
                  <a:cubicBezTo>
                    <a:pt x="1356" y="2257854"/>
                    <a:pt x="0" y="2254580"/>
                    <a:pt x="0" y="2251166"/>
                  </a:cubicBezTo>
                  <a:lnTo>
                    <a:pt x="0" y="12873"/>
                  </a:lnTo>
                  <a:cubicBezTo>
                    <a:pt x="0" y="9459"/>
                    <a:pt x="1356" y="6185"/>
                    <a:pt x="3770" y="3770"/>
                  </a:cubicBezTo>
                  <a:cubicBezTo>
                    <a:pt x="6185" y="1356"/>
                    <a:pt x="9459" y="0"/>
                    <a:pt x="12873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42365" cy="2302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2846" y="-172745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2846" y="-251327"/>
            <a:ext cx="16459200" cy="1793081"/>
            <a:chOff x="0" y="0"/>
            <a:chExt cx="21945600" cy="23907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390775"/>
            </a:xfrm>
            <a:custGeom>
              <a:avLst/>
              <a:gdLst/>
              <a:ahLst/>
              <a:cxnLst/>
              <a:rect r="r" b="b" t="t" l="l"/>
              <a:pathLst>
                <a:path h="23907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90775"/>
                  </a:lnTo>
                  <a:lnTo>
                    <a:pt x="0" y="23907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858" r="0" b="-12885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194560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RESEARCH  AND REFERENCES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871050" y="2248"/>
            <a:ext cx="2173872" cy="1026471"/>
            <a:chOff x="0" y="0"/>
            <a:chExt cx="2898496" cy="13686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98521" cy="1368679"/>
            </a:xfrm>
            <a:custGeom>
              <a:avLst/>
              <a:gdLst/>
              <a:ahLst/>
              <a:cxnLst/>
              <a:rect r="r" b="b" t="t" l="l"/>
              <a:pathLst>
                <a:path h="1368679" w="2898521">
                  <a:moveTo>
                    <a:pt x="0" y="0"/>
                  </a:moveTo>
                  <a:lnTo>
                    <a:pt x="2898521" y="0"/>
                  </a:lnTo>
                  <a:lnTo>
                    <a:pt x="2898521" y="1368679"/>
                  </a:lnTo>
                  <a:lnTo>
                    <a:pt x="0" y="1368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" r="0" b="-1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19050" y="10049113"/>
            <a:ext cx="18503208" cy="754856"/>
            <a:chOff x="0" y="0"/>
            <a:chExt cx="24670944" cy="10064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670893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70893">
                  <a:moveTo>
                    <a:pt x="0" y="0"/>
                  </a:moveTo>
                  <a:lnTo>
                    <a:pt x="24670893" y="0"/>
                  </a:lnTo>
                  <a:lnTo>
                    <a:pt x="24670893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116139" y="9734788"/>
            <a:ext cx="478898" cy="916086"/>
            <a:chOff x="0" y="0"/>
            <a:chExt cx="638531" cy="12214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8556" cy="1221486"/>
            </a:xfrm>
            <a:custGeom>
              <a:avLst/>
              <a:gdLst/>
              <a:ahLst/>
              <a:cxnLst/>
              <a:rect r="r" b="b" t="t" l="l"/>
              <a:pathLst>
                <a:path h="1221486" w="638556">
                  <a:moveTo>
                    <a:pt x="0" y="0"/>
                  </a:moveTo>
                  <a:lnTo>
                    <a:pt x="638556" y="0"/>
                  </a:lnTo>
                  <a:lnTo>
                    <a:pt x="638556" y="1221486"/>
                  </a:lnTo>
                  <a:lnTo>
                    <a:pt x="0" y="12214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5594" t="0" r="-195590" b="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116139" y="9686992"/>
            <a:ext cx="478898" cy="963873"/>
            <a:chOff x="0" y="0"/>
            <a:chExt cx="638531" cy="12851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8528" cy="1285170"/>
            </a:xfrm>
            <a:custGeom>
              <a:avLst/>
              <a:gdLst/>
              <a:ahLst/>
              <a:cxnLst/>
              <a:rect r="r" b="b" t="t" l="l"/>
              <a:pathLst>
                <a:path h="1285170" w="638528">
                  <a:moveTo>
                    <a:pt x="0" y="0"/>
                  </a:moveTo>
                  <a:lnTo>
                    <a:pt x="638528" y="0"/>
                  </a:lnTo>
                  <a:lnTo>
                    <a:pt x="638528" y="1285170"/>
                  </a:lnTo>
                  <a:lnTo>
                    <a:pt x="0" y="12851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236" t="0" r="-20823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38531" cy="1323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sp>
        <p:nvSpPr>
          <p:cNvPr name="Freeform 19" id="19" descr="Your startup LOGO"/>
          <p:cNvSpPr/>
          <p:nvPr/>
        </p:nvSpPr>
        <p:spPr>
          <a:xfrm flipH="false" flipV="false" rot="0">
            <a:off x="267357" y="135150"/>
            <a:ext cx="2472700" cy="900703"/>
          </a:xfrm>
          <a:custGeom>
            <a:avLst/>
            <a:gdLst/>
            <a:ahLst/>
            <a:cxnLst/>
            <a:rect r="r" b="b" t="t" l="l"/>
            <a:pathLst>
              <a:path h="900703" w="2472700">
                <a:moveTo>
                  <a:pt x="0" y="0"/>
                </a:moveTo>
                <a:lnTo>
                  <a:pt x="2472700" y="0"/>
                </a:lnTo>
                <a:lnTo>
                  <a:pt x="2472700" y="900703"/>
                </a:lnTo>
                <a:lnTo>
                  <a:pt x="0" y="900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74501" y="99431"/>
            <a:ext cx="2458450" cy="929269"/>
            <a:chOff x="0" y="0"/>
            <a:chExt cx="3277934" cy="12390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77938" cy="1239023"/>
            </a:xfrm>
            <a:custGeom>
              <a:avLst/>
              <a:gdLst/>
              <a:ahLst/>
              <a:cxnLst/>
              <a:rect r="r" b="b" t="t" l="l"/>
              <a:pathLst>
                <a:path h="1239023" w="3277938">
                  <a:moveTo>
                    <a:pt x="0" y="0"/>
                  </a:moveTo>
                  <a:lnTo>
                    <a:pt x="3277938" y="0"/>
                  </a:lnTo>
                  <a:lnTo>
                    <a:pt x="3277938" y="1239023"/>
                  </a:lnTo>
                  <a:lnTo>
                    <a:pt x="0" y="1239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9" r="0" b="-154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277934" cy="1296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Legacy Coderz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72300" y="9929479"/>
            <a:ext cx="4806001" cy="547688"/>
            <a:chOff x="0" y="0"/>
            <a:chExt cx="6408001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8039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39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64" r="0" b="-12086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972300" y="9908048"/>
            <a:ext cx="4806001" cy="569119"/>
            <a:chOff x="0" y="0"/>
            <a:chExt cx="6408001" cy="7588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08001" cy="758826"/>
            </a:xfrm>
            <a:custGeom>
              <a:avLst/>
              <a:gdLst/>
              <a:ahLst/>
              <a:cxnLst/>
              <a:rect r="r" b="b" t="t" l="l"/>
              <a:pathLst>
                <a:path h="758826" w="6408001">
                  <a:moveTo>
                    <a:pt x="0" y="0"/>
                  </a:moveTo>
                  <a:lnTo>
                    <a:pt x="6408001" y="0"/>
                  </a:lnTo>
                  <a:lnTo>
                    <a:pt x="6408001" y="758826"/>
                  </a:lnTo>
                  <a:lnTo>
                    <a:pt x="0" y="758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3" r="0" b="-11454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aphicFrame>
        <p:nvGraphicFramePr>
          <p:cNvPr name="Table 28" id="28"/>
          <p:cNvGraphicFramePr>
            <a:graphicFrameLocks noGrp="true"/>
          </p:cNvGraphicFramePr>
          <p:nvPr/>
        </p:nvGraphicFramePr>
        <p:xfrm>
          <a:off x="7116572" y="1271778"/>
          <a:ext cx="11023600" cy="8577755"/>
        </p:xfrm>
        <a:graphic>
          <a:graphicData uri="http://schemas.openxmlformats.org/drawingml/2006/table">
            <a:tbl>
              <a:tblPr/>
              <a:tblGrid>
                <a:gridCol w="1901354"/>
                <a:gridCol w="3139827"/>
                <a:gridCol w="3585677"/>
                <a:gridCol w="2396743"/>
              </a:tblGrid>
              <a:tr h="6155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omorrow Bold"/>
                        </a:rPr>
                        <a:t>Features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omorrow Bold"/>
                        </a:rPr>
                        <a:t>Traditional / Manual Process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omorrow Bold"/>
                        </a:rPr>
                        <a:t>Our Solution (SIH26265 Portal)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omorrow Bold"/>
                        </a:rPr>
                        <a:t>Regulatory Advantage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E"/>
                    </a:solidFill>
                  </a:tcPr>
                </a:tc>
              </a:tr>
              <a:tr h="10107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Verification Route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Postal confirmation mail to bank branches taking 30–90 days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Direct CBS API / SFMS (MT760) dual-source query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96.6% turnaround cut (1.5 days)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Intake &amp; Digitization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Manual clerical paper typing prone to transcription errors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OCR laser scanner with per-field confidence meters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Instant bounding-box visual audit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2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Discrepancy Detection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Human visual checks missing forged certificates &amp; dates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8-rule deterministic engine (IFSC, tenure, amounts)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100% intercept at intake (19 caught)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Cross-Trust Duplicate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Siloed regional files; identical FDR pledged to multiple bodies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Pan-India repository collision scan (Bank + FDR Number)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Zero multi-pledging collisions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2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Maturity Monitoring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Passive paper ledgers; deposits lapse unrenewed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12-month visual liquidity ladder + automated alerts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Proactive alerts at 90/60/30/15/7 days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Prioritization &amp; Triage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Arbitrary FIFO pile processing without risk grading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100-pt transparent mathematical Attention Scoring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Explainable high-risk triage queue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2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Release Governance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Vulnerable paper routing; premature release before checks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Hard Release Gate blocking encashment on open flags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Zero leakage; 3 unsafe encashments stopped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Architecture &amp; Stack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Monolithic legacy silos or expensive commercial licenses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Next.js 14 + TypeScript Strict + Tailwind + SQLite/Prisma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100% open-source, zero license cost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2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Audit Trail &amp; Proof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Missing physical register pages or altered paper logs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Cryptographic SHA-256 chained ledger from genesis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Tamper-evident mathematical proof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• College Accessibility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C0392B"/>
                          </a:solidFill>
                          <a:latin typeface="Tomorrow Bold"/>
                        </a:rPr>
                        <a:t>✗ </a:t>
                      </a:r>
                      <a:r>
                        <a:rPr sz="1450" b="0">
                          <a:solidFill>
                            <a:srgbClr val="334155"/>
                          </a:solidFill>
                          <a:latin typeface="Tomorrow"/>
                        </a:rPr>
                        <a:t>Blind physical status; mandatory visits to Regional Offices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1E8449"/>
                          </a:solidFill>
                          <a:latin typeface="Tomorrow Bold"/>
                        </a:rPr>
                        <a:t>✓ </a:t>
                      </a:r>
                      <a:r>
                        <a:rPr sz="1450" b="1">
                          <a:solidFill>
                            <a:srgbClr val="0F172A"/>
                          </a:solidFill>
                          <a:latin typeface="Tomorrow Bold"/>
                        </a:rPr>
                        <a:t>Self-service 10-yr renewal desk &amp; live refund tracking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sz="1450" b="1">
                          <a:solidFill>
                            <a:srgbClr val="0B5CAD"/>
                          </a:solidFill>
                          <a:latin typeface="Tomorrow Bold"/>
                        </a:rPr>
                        <a:t>100% digital, zero physical visits</a:t>
                      </a:r>
                      <a:endParaRPr lang="en-US" sz="1100"/>
                    </a:p>
                  </a:txBody>
                  <a:tcPr marL="90000" marR="90000" marT="90000" marB="9000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29" id="29"/>
          <p:cNvGrpSpPr/>
          <p:nvPr/>
        </p:nvGrpSpPr>
        <p:grpSpPr>
          <a:xfrm rot="0">
            <a:off x="7107047" y="1253260"/>
            <a:ext cx="11042650" cy="8614791"/>
            <a:chOff x="0" y="0"/>
            <a:chExt cx="2908364" cy="22688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08364" cy="2268855"/>
            </a:xfrm>
            <a:custGeom>
              <a:avLst/>
              <a:gdLst/>
              <a:ahLst/>
              <a:cxnLst/>
              <a:rect r="r" b="b" t="t" l="l"/>
              <a:pathLst>
                <a:path h="2268855" w="2908364">
                  <a:moveTo>
                    <a:pt x="2908364" y="7712"/>
                  </a:moveTo>
                  <a:lnTo>
                    <a:pt x="2908364" y="2261143"/>
                  </a:lnTo>
                  <a:cubicBezTo>
                    <a:pt x="2908364" y="2263188"/>
                    <a:pt x="2907552" y="2265150"/>
                    <a:pt x="2906106" y="2266596"/>
                  </a:cubicBezTo>
                  <a:cubicBezTo>
                    <a:pt x="2904659" y="2268042"/>
                    <a:pt x="2902698" y="2268855"/>
                    <a:pt x="2900652" y="2268855"/>
                  </a:cubicBezTo>
                  <a:lnTo>
                    <a:pt x="7712" y="2268855"/>
                  </a:lnTo>
                  <a:cubicBezTo>
                    <a:pt x="5667" y="2268855"/>
                    <a:pt x="3705" y="2268042"/>
                    <a:pt x="2259" y="2266596"/>
                  </a:cubicBezTo>
                  <a:cubicBezTo>
                    <a:pt x="813" y="2265150"/>
                    <a:pt x="0" y="2263188"/>
                    <a:pt x="0" y="2261143"/>
                  </a:cubicBezTo>
                  <a:lnTo>
                    <a:pt x="0" y="7712"/>
                  </a:lnTo>
                  <a:cubicBezTo>
                    <a:pt x="0" y="5667"/>
                    <a:pt x="813" y="3705"/>
                    <a:pt x="2259" y="2259"/>
                  </a:cubicBezTo>
                  <a:cubicBezTo>
                    <a:pt x="3705" y="813"/>
                    <a:pt x="5667" y="0"/>
                    <a:pt x="7712" y="0"/>
                  </a:cubicBezTo>
                  <a:lnTo>
                    <a:pt x="2900652" y="0"/>
                  </a:lnTo>
                  <a:cubicBezTo>
                    <a:pt x="2902698" y="0"/>
                    <a:pt x="2904659" y="813"/>
                    <a:pt x="2906106" y="2259"/>
                  </a:cubicBezTo>
                  <a:cubicBezTo>
                    <a:pt x="2907552" y="3705"/>
                    <a:pt x="2908364" y="5667"/>
                    <a:pt x="2908364" y="7712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908364" cy="2306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463945" y="985571"/>
            <a:ext cx="3691280" cy="628059"/>
          </a:xfrm>
          <a:custGeom>
            <a:avLst/>
            <a:gdLst/>
            <a:ahLst/>
            <a:cxnLst/>
            <a:rect r="r" b="b" t="t" l="l"/>
            <a:pathLst>
              <a:path h="628059" w="3691280">
                <a:moveTo>
                  <a:pt x="0" y="0"/>
                </a:moveTo>
                <a:lnTo>
                  <a:pt x="3691280" y="0"/>
                </a:lnTo>
                <a:lnTo>
                  <a:pt x="3691280" y="628059"/>
                </a:lnTo>
                <a:lnTo>
                  <a:pt x="0" y="628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06682" y="1775250"/>
            <a:ext cx="6283328" cy="766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sz="1599" b="1">
                <a:solidFill>
                  <a:srgbClr val="0E86F4"/>
                </a:solidFill>
                <a:latin typeface="Tomorrow Bold"/>
              </a:rPr>
              <a:t>AICTE STATUTORY NORMS &amp; BANKING DIRECTIVES</a:t>
            </a:r>
          </a:p>
          <a:p>
            <a:pPr algn="l">
              <a:lnSpc>
                <a:spcPts val="2015"/>
              </a:lnSpc>
            </a:pPr>
          </a:p>
          <a:p>
            <a:pPr algn="l">
              <a:lnSpc>
                <a:spcPts val="1826"/>
              </a:lnSpc>
            </a:pPr>
            <a:r>
              <a:rPr sz="1400" b="0">
                <a:solidFill>
                  <a:srgbClr val="0F172A"/>
                </a:solidFill>
                <a:latin typeface="Tomorrow"/>
              </a:rPr>
              <a:t>• </a:t>
            </a:r>
            <a:r>
              <a:rPr sz="1400" b="1">
                <a:solidFill>
                  <a:srgbClr val="0F172A"/>
                </a:solidFill>
                <a:latin typeface="Tomorrow Bold"/>
              </a:rPr>
              <a:t>AICTE Approval Process Handbook (APH 2024–2027)</a:t>
            </a:r>
            <a:r>
              <a:rPr sz="1400" b="0">
                <a:solidFill>
                  <a:srgbClr val="0F172A"/>
                </a:solidFill>
                <a:latin typeface="Tomorrow"/>
              </a:rPr>
              <a:t> — Mandatory 8–10 yr joint FDR pledge with Regional Officer under Ch. I &amp; II norms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[AICTE]</a:t>
            </a:r>
            <a:r>
              <a:rPr sz="1400" b="0">
                <a:solidFill>
                  <a:srgbClr val="0F172A"/>
                </a:solidFill>
                <a:latin typeface="Tomorrow"/>
              </a:rPr>
              <a:t>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[APH]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1826"/>
              </a:lnSpc>
            </a:pPr>
            <a:r>
              <a:rPr sz="1400" b="0">
                <a:solidFill>
                  <a:srgbClr val="0F172A"/>
                </a:solidFill>
                <a:latin typeface="Tomorrow"/>
              </a:rPr>
              <a:t>• </a:t>
            </a:r>
            <a:r>
              <a:rPr sz="1400" b="1">
                <a:solidFill>
                  <a:srgbClr val="0F172A"/>
                </a:solidFill>
                <a:latin typeface="Tomorrow Bold"/>
              </a:rPr>
              <a:t>AICTE Guidelines for Refund &amp; Release of FDRs (2023)</a:t>
            </a:r>
            <a:r>
              <a:rPr sz="1400" b="0">
                <a:solidFill>
                  <a:srgbClr val="0F172A"/>
                </a:solidFill>
                <a:latin typeface="Tomorrow"/>
              </a:rPr>
              <a:t> — Preconditions for refund: zero complaints &amp; Competent Authority sanction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[CIRCULAR]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1826"/>
              </a:lnSpc>
            </a:pPr>
            <a:r>
              <a:rPr sz="1400" b="0">
                <a:solidFill>
                  <a:srgbClr val="0F172A"/>
                </a:solidFill>
                <a:latin typeface="Tomorrow"/>
              </a:rPr>
              <a:t>• </a:t>
            </a:r>
            <a:r>
              <a:rPr sz="1400" b="1">
                <a:solidFill>
                  <a:srgbClr val="0F172A"/>
                </a:solidFill>
                <a:latin typeface="Tomorrow Bold"/>
              </a:rPr>
              <a:t>RBI Master Direction on Deposits (2025) &amp; IFSC Standards</a:t>
            </a:r>
            <a:r>
              <a:rPr sz="1400" b="0">
                <a:solidFill>
                  <a:srgbClr val="0F172A"/>
                </a:solidFill>
                <a:latin typeface="Tomorrow"/>
              </a:rPr>
              <a:t> — CBS lien endorsement rules &amp; 11-char deterministic routing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[RBI]</a:t>
            </a:r>
            <a:r>
              <a:rPr sz="1400" b="0">
                <a:solidFill>
                  <a:srgbClr val="0F172A"/>
                </a:solidFill>
                <a:latin typeface="Tomorrow"/>
              </a:rPr>
              <a:t>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[NPCI]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2015"/>
              </a:lnSpc>
            </a:pPr>
            <a:r>
              <a:rPr sz="1599" b="1">
                <a:solidFill>
                  <a:srgbClr val="0E86F4"/>
                </a:solidFill>
                <a:latin typeface="Tomorrow Bold"/>
              </a:rPr>
              <a:t>SECURITY PROTOCOLS &amp; GOVERNANCE STANDARDS</a:t>
            </a:r>
          </a:p>
          <a:p>
            <a:pPr algn="l">
              <a:lnSpc>
                <a:spcPts val="2015"/>
              </a:lnSpc>
            </a:pPr>
          </a:p>
          <a:p>
            <a:pPr algn="l">
              <a:lnSpc>
                <a:spcPts val="1826"/>
              </a:lnSpc>
            </a:pPr>
            <a:r>
              <a:rPr sz="1400" b="0">
                <a:solidFill>
                  <a:srgbClr val="0F172A"/>
                </a:solidFill>
                <a:latin typeface="Tomorrow"/>
              </a:rPr>
              <a:t>• </a:t>
            </a:r>
            <a:r>
              <a:rPr sz="1400" b="1">
                <a:solidFill>
                  <a:srgbClr val="0F172A"/>
                </a:solidFill>
                <a:latin typeface="Tomorrow Bold"/>
              </a:rPr>
              <a:t>IETF RFC 6962 Certificate Transparency</a:t>
            </a:r>
            <a:r>
              <a:rPr sz="1400" b="0">
                <a:solidFill>
                  <a:srgbClr val="0F172A"/>
                </a:solidFill>
                <a:latin typeface="Tomorrow"/>
              </a:rPr>
              <a:t> — SHA-256 cryptographic append-only chaining for tamper-evident audit logs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[RFC 6962]</a:t>
            </a:r>
            <a:r>
              <a:rPr sz="1400" b="0">
                <a:solidFill>
                  <a:srgbClr val="0F172A"/>
                </a:solidFill>
                <a:latin typeface="Tomorrow"/>
              </a:rPr>
              <a:t>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[IETF]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1826"/>
              </a:lnSpc>
            </a:pPr>
            <a:r>
              <a:rPr sz="1400" b="0">
                <a:solidFill>
                  <a:srgbClr val="0F172A"/>
                </a:solidFill>
                <a:latin typeface="Tomorrow"/>
              </a:rPr>
              <a:t>• </a:t>
            </a:r>
            <a:r>
              <a:rPr sz="1400" b="1">
                <a:solidFill>
                  <a:srgbClr val="0F172A"/>
                </a:solidFill>
                <a:latin typeface="Tomorrow Bold"/>
              </a:rPr>
              <a:t>IDRBT SFMS Banking Protocols (MT760/MT767)</a:t>
            </a:r>
            <a:r>
              <a:rPr sz="1400" b="0">
                <a:solidFill>
                  <a:srgbClr val="0F172A"/>
                </a:solidFill>
                <a:latin typeface="Tomorrow"/>
              </a:rPr>
              <a:t> — Domestic bank guarantee &amp; deposit lien electronic messaging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[IDRBT]</a:t>
            </a:r>
            <a:r>
              <a:rPr sz="1400" b="0">
                <a:solidFill>
                  <a:srgbClr val="0F172A"/>
                </a:solidFill>
                <a:latin typeface="Tomorrow"/>
              </a:rPr>
              <a:t>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[SFMS]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1826"/>
              </a:lnSpc>
            </a:pPr>
            <a:r>
              <a:rPr sz="1400" b="0">
                <a:solidFill>
                  <a:srgbClr val="0F172A"/>
                </a:solidFill>
                <a:latin typeface="Tomorrow"/>
              </a:rPr>
              <a:t>• </a:t>
            </a:r>
            <a:r>
              <a:rPr sz="1400" b="1">
                <a:solidFill>
                  <a:srgbClr val="0F172A"/>
                </a:solidFill>
                <a:latin typeface="Tomorrow Bold"/>
              </a:rPr>
              <a:t>DPDP Act 2023 &amp; CERT-In Log Retention Directions</a:t>
            </a:r>
            <a:r>
              <a:rPr sz="1400" b="0">
                <a:solidFill>
                  <a:srgbClr val="0F172A"/>
                </a:solidFill>
                <a:latin typeface="Tomorrow"/>
              </a:rPr>
              <a:t> — PII masking, role segregation &amp; 5-yr verifiable security logs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[DPDP]</a:t>
            </a:r>
            <a:r>
              <a:rPr sz="1400" b="0">
                <a:solidFill>
                  <a:srgbClr val="0F172A"/>
                </a:solidFill>
                <a:latin typeface="Tomorrow"/>
              </a:rPr>
              <a:t>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[CERT-In]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1826"/>
              </a:lnSpc>
            </a:pPr>
            <a:r>
              <a:rPr sz="1400" b="0">
                <a:solidFill>
                  <a:srgbClr val="0F172A"/>
                </a:solidFill>
                <a:latin typeface="Tomorrow"/>
              </a:rPr>
              <a:t>• </a:t>
            </a:r>
            <a:r>
              <a:rPr sz="1400" b="1">
                <a:solidFill>
                  <a:srgbClr val="0F172A"/>
                </a:solidFill>
                <a:latin typeface="Tomorrow Bold"/>
              </a:rPr>
              <a:t>General Financial Rules (GFR 2017) Rules 170 &amp; 171</a:t>
            </a:r>
            <a:r>
              <a:rPr sz="1400" b="0">
                <a:solidFill>
                  <a:srgbClr val="0F172A"/>
                </a:solidFill>
                <a:latin typeface="Tomorrow"/>
              </a:rPr>
              <a:t> — Statutory norms for performance security &amp; sovereign deposit custody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[GFR]</a:t>
            </a:r>
            <a:r>
              <a:rPr sz="1400" b="0">
                <a:solidFill>
                  <a:srgbClr val="0F172A"/>
                </a:solidFill>
                <a:latin typeface="Tomorrow"/>
              </a:rPr>
              <a:t>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[FINMIN]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2015"/>
              </a:lnSpc>
            </a:pPr>
            <a:r>
              <a:rPr sz="1599" b="1">
                <a:solidFill>
                  <a:srgbClr val="0E86F4"/>
                </a:solidFill>
                <a:latin typeface="Tomorrow Bold"/>
              </a:rPr>
              <a:t>DIGITAL BENCHMARKS &amp; REPRODUCIBILITY</a:t>
            </a:r>
          </a:p>
          <a:p>
            <a:pPr algn="l">
              <a:lnSpc>
                <a:spcPts val="2015"/>
              </a:lnSpc>
            </a:pPr>
          </a:p>
          <a:p>
            <a:pPr algn="l">
              <a:lnSpc>
                <a:spcPts val="1826"/>
              </a:lnSpc>
            </a:pPr>
            <a:r>
              <a:rPr sz="1400" b="0">
                <a:solidFill>
                  <a:srgbClr val="0F172A"/>
                </a:solidFill>
                <a:latin typeface="Tomorrow"/>
              </a:rPr>
              <a:t>• </a:t>
            </a:r>
            <a:r>
              <a:rPr sz="1400" b="1">
                <a:solidFill>
                  <a:srgbClr val="0F172A"/>
                </a:solidFill>
                <a:latin typeface="Tomorrow Bold"/>
              </a:rPr>
              <a:t>NeSL DDE Turnaround Study (2023)</a:t>
            </a:r>
            <a:r>
              <a:rPr sz="1400" b="0">
                <a:solidFill>
                  <a:srgbClr val="0F172A"/>
                </a:solidFill>
                <a:latin typeface="Tomorrow"/>
              </a:rPr>
              <a:t> — Digital execution benchmark cutting verification latency from 45 to 1.5 days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[NeSL]</a:t>
            </a:r>
            <a:r>
              <a:rPr sz="1400" b="0">
                <a:solidFill>
                  <a:srgbClr val="0F172A"/>
                </a:solidFill>
                <a:latin typeface="Tomorrow"/>
              </a:rPr>
              <a:t>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[BENCHMARK]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1826"/>
              </a:lnSpc>
            </a:pPr>
            <a:r>
              <a:rPr sz="1400" b="0">
                <a:solidFill>
                  <a:srgbClr val="0F172A"/>
                </a:solidFill>
                <a:latin typeface="Tomorrow"/>
              </a:rPr>
              <a:t>• </a:t>
            </a:r>
            <a:r>
              <a:rPr sz="1400" b="1">
                <a:solidFill>
                  <a:srgbClr val="0F172A"/>
                </a:solidFill>
                <a:latin typeface="Tomorrow Bold"/>
              </a:rPr>
              <a:t>Reproducibility &amp; Verification Suite</a:t>
            </a:r>
            <a:r>
              <a:rPr sz="1400" b="0">
                <a:solidFill>
                  <a:srgbClr val="0F172A"/>
                </a:solidFill>
                <a:latin typeface="Tomorrow"/>
              </a:rPr>
              <a:t> — Next.js 14, TypeScript Strict, 35/35 Vitest tests, 140-FDR dataset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[TESTS]</a:t>
            </a:r>
            <a:r>
              <a:rPr sz="1400" b="0">
                <a:solidFill>
                  <a:srgbClr val="0F172A"/>
                </a:solidFill>
                <a:latin typeface="Tomorrow"/>
              </a:rPr>
              <a:t>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[VERCEL]</a:t>
            </a:r>
            <a:r>
              <a:rPr sz="1400" b="0">
                <a:solidFill>
                  <a:srgbClr val="0F172A"/>
                </a:solidFill>
                <a:latin typeface="Tomorrow"/>
              </a:rPr>
              <a:t>  </a:t>
            </a:r>
            <a:r>
              <a:rPr sz="1400" b="1">
                <a:solidFill>
                  <a:srgbClr val="0000FF"/>
                </a:solidFill>
                <a:latin typeface="Tomorrow Bold"/>
              </a:rPr>
              <a:t>[CODE]</a:t>
            </a:r>
          </a:p>
        </p:txBody>
      </p:sp>
      <p:sp>
        <p:nvSpPr>
          <p:cNvPr name="AutoShape 34" id="34"/>
          <p:cNvSpPr/>
          <p:nvPr/>
        </p:nvSpPr>
        <p:spPr>
          <a:xfrm>
            <a:off x="444097" y="2044477"/>
            <a:ext cx="5717888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406682" y="4822438"/>
            <a:ext cx="5717888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406682" y="8051413"/>
            <a:ext cx="5373552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2122952" y="7945323"/>
            <a:ext cx="2491104" cy="266700"/>
            <a:chOff x="0" y="0"/>
            <a:chExt cx="656093" cy="7024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6093" cy="70242"/>
            </a:xfrm>
            <a:custGeom>
              <a:avLst/>
              <a:gdLst/>
              <a:ahLst/>
              <a:cxnLst/>
              <a:rect r="r" b="b" t="t" l="l"/>
              <a:pathLst>
                <a:path h="70242" w="656093">
                  <a:moveTo>
                    <a:pt x="0" y="0"/>
                  </a:moveTo>
                  <a:lnTo>
                    <a:pt x="656093" y="0"/>
                  </a:lnTo>
                  <a:lnTo>
                    <a:pt x="656093" y="70242"/>
                  </a:lnTo>
                  <a:lnTo>
                    <a:pt x="0" y="70242"/>
                  </a:lnTo>
                  <a:close/>
                </a:path>
              </a:pathLst>
            </a:custGeom>
            <a:solidFill>
              <a:srgbClr val="E9F4FC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56093" cy="108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14497" y="1165955"/>
            <a:ext cx="337708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sz="2574" b="true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RESEARCH AND REFERENCES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04249" y="7907223"/>
            <a:ext cx="19469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DAHXf1cTlAI</dc:identifier>
  <dcterms:modified xsi:type="dcterms:W3CDTF">2011-08-01T06:04:30Z</dcterms:modified>
  <cp:revision>1</cp:revision>
  <dc:title>SIH26261</dc:title>
</cp:coreProperties>
</file>