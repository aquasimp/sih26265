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Trade Gothic Condensed Bold" charset="1" panose="020B0806040303020004"/>
      <p:regular r:id="rId7"/>
    </p:embeddedFont>
    <p:embeddedFont>
      <p:font typeface="Tomorrow Bold" charset="1" panose="00000000000000000000"/>
      <p:regular r:id="rId8"/>
    </p:embeddedFont>
    <p:embeddedFont>
      <p:font typeface="Calibri (MS) Bold" charset="1" panose="020F0702030404030204"/>
      <p:regular r:id="rId9"/>
    </p:embeddedFont>
    <p:embeddedFont>
      <p:font typeface="Trade Gothic Condensed" charset="1" panose="020B0506040303020004"/>
      <p:regular r:id="rId10"/>
    </p:embeddedFont>
    <p:embeddedFont>
      <p:font typeface="Tomorrow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8.png"/><Relationship Id="rId10" Type="http://schemas.openxmlformats.org/officeDocument/2006/relationships/image" Target="../media/image9.sv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Relationship Id="rId15" Type="http://schemas.openxmlformats.org/officeDocument/2006/relationships/image" Target="../media/image14.png"/><Relationship Id="rId16" Type="http://schemas.openxmlformats.org/officeDocument/2006/relationships/image" Target="../media/image15.svg"/><Relationship Id="rId17" Type="http://schemas.openxmlformats.org/officeDocument/2006/relationships/image" Target="../media/image16.png"/><Relationship Id="rId18" Type="http://schemas.openxmlformats.org/officeDocument/2006/relationships/image" Target="../media/image17.svg"/><Relationship Id="rId19" Type="http://schemas.openxmlformats.org/officeDocument/2006/relationships/image" Target="../media/image18.png"/><Relationship Id="rId20" Type="http://schemas.openxmlformats.org/officeDocument/2006/relationships/image" Target="../media/image19.svg"/><Relationship Id="rId21" Type="http://schemas.openxmlformats.org/officeDocument/2006/relationships/image" Target="../media/image20.png"/><Relationship Id="rId22" Type="http://schemas.openxmlformats.org/officeDocument/2006/relationships/image" Target="../media/image21.svg"/><Relationship Id="rId23" Type="http://schemas.openxmlformats.org/officeDocument/2006/relationships/image" Target="../media/image22.png"/><Relationship Id="rId24" Type="http://schemas.openxmlformats.org/officeDocument/2006/relationships/image" Target="../media/image23.sv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svg"/><Relationship Id="rId31" Type="http://schemas.openxmlformats.org/officeDocument/2006/relationships/image" Target="../media/image30.png"/><Relationship Id="rId32" Type="http://schemas.openxmlformats.org/officeDocument/2006/relationships/image" Target="../media/image31.svg"/><Relationship Id="rId33" Type="http://schemas.openxmlformats.org/officeDocument/2006/relationships/image" Target="../media/image32.png"/><Relationship Id="rId34" Type="http://schemas.openxmlformats.org/officeDocument/2006/relationships/image" Target="../media/image33.svg"/><Relationship Id="rId35" Type="http://schemas.openxmlformats.org/officeDocument/2006/relationships/image" Target="../media/image34.png"/><Relationship Id="rId36" Type="http://schemas.openxmlformats.org/officeDocument/2006/relationships/image" Target="../media/image35.svg"/><Relationship Id="rId37" Type="http://schemas.openxmlformats.org/officeDocument/2006/relationships/image" Target="../media/image36.png"/><Relationship Id="rId38" Type="http://schemas.openxmlformats.org/officeDocument/2006/relationships/image" Target="../media/image37.svg"/><Relationship Id="rId39" Type="http://schemas.openxmlformats.org/officeDocument/2006/relationships/image" Target="../media/image38.png"/><Relationship Id="rId40" Type="http://schemas.openxmlformats.org/officeDocument/2006/relationships/image" Target="../media/image39.svg"/><Relationship Id="rId41" Type="http://schemas.openxmlformats.org/officeDocument/2006/relationships/image" Target="../media/image40.png"/><Relationship Id="rId42" Type="http://schemas.openxmlformats.org/officeDocument/2006/relationships/image" Target="../media/image41.svg"/><Relationship Id="rId43" Type="http://schemas.openxmlformats.org/officeDocument/2006/relationships/image" Target="../media/image42.png"/><Relationship Id="rId44" Type="http://schemas.openxmlformats.org/officeDocument/2006/relationships/image" Target="../media/image43.sv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svg"/><Relationship Id="rId50" Type="http://schemas.openxmlformats.org/officeDocument/2006/relationships/image" Target="../media/image49.png"/><Relationship Id="rId51" Type="http://schemas.openxmlformats.org/officeDocument/2006/relationships/image" Target="../media/image50.svg"/><Relationship Id="rId52" Type="http://schemas.openxmlformats.org/officeDocument/2006/relationships/image" Target="../media/image51.png"/><Relationship Id="rId53" Type="http://schemas.openxmlformats.org/officeDocument/2006/relationships/image" Target="../media/image5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1050" y="2248"/>
            <a:ext cx="2173872" cy="1026471"/>
            <a:chOff x="0" y="0"/>
            <a:chExt cx="2898496" cy="1368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8521" cy="1368679"/>
            </a:xfrm>
            <a:custGeom>
              <a:avLst/>
              <a:gdLst/>
              <a:ahLst/>
              <a:cxnLst/>
              <a:rect r="r" b="b" t="t" l="l"/>
              <a:pathLst>
                <a:path h="1368679" w="2898521">
                  <a:moveTo>
                    <a:pt x="0" y="0"/>
                  </a:moveTo>
                  <a:lnTo>
                    <a:pt x="2898521" y="0"/>
                  </a:lnTo>
                  <a:lnTo>
                    <a:pt x="2898521" y="1368679"/>
                  </a:lnTo>
                  <a:lnTo>
                    <a:pt x="0" y="1368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1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036593" y="5360051"/>
            <a:ext cx="7616276" cy="4101636"/>
          </a:xfrm>
          <a:custGeom>
            <a:avLst/>
            <a:gdLst/>
            <a:ahLst/>
            <a:cxnLst/>
            <a:rect r="r" b="b" t="t" l="l"/>
            <a:pathLst>
              <a:path h="4101636" w="7616276">
                <a:moveTo>
                  <a:pt x="0" y="0"/>
                </a:moveTo>
                <a:lnTo>
                  <a:pt x="7616275" y="0"/>
                </a:lnTo>
                <a:lnTo>
                  <a:pt x="7616275" y="4101636"/>
                </a:lnTo>
                <a:lnTo>
                  <a:pt x="0" y="4101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24274" y="923858"/>
            <a:ext cx="12264533" cy="4636646"/>
          </a:xfrm>
          <a:custGeom>
            <a:avLst/>
            <a:gdLst/>
            <a:ahLst/>
            <a:cxnLst/>
            <a:rect r="r" b="b" t="t" l="l"/>
            <a:pathLst>
              <a:path h="4636646" w="12264533">
                <a:moveTo>
                  <a:pt x="0" y="0"/>
                </a:moveTo>
                <a:lnTo>
                  <a:pt x="12264533" y="0"/>
                </a:lnTo>
                <a:lnTo>
                  <a:pt x="12264533" y="4636646"/>
                </a:lnTo>
                <a:lnTo>
                  <a:pt x="0" y="4636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9050" y="10064887"/>
            <a:ext cx="18503208" cy="754856"/>
            <a:chOff x="0" y="0"/>
            <a:chExt cx="24670944" cy="100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70893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670893">
                  <a:moveTo>
                    <a:pt x="0" y="0"/>
                  </a:moveTo>
                  <a:lnTo>
                    <a:pt x="24670893" y="0"/>
                  </a:lnTo>
                  <a:lnTo>
                    <a:pt x="24670893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087288" y="9949805"/>
            <a:ext cx="286312" cy="547688"/>
            <a:chOff x="0" y="0"/>
            <a:chExt cx="381749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762" cy="730250"/>
            </a:xfrm>
            <a:custGeom>
              <a:avLst/>
              <a:gdLst/>
              <a:ahLst/>
              <a:cxnLst/>
              <a:rect r="r" b="b" t="t" l="l"/>
              <a:pathLst>
                <a:path h="730250" w="381762">
                  <a:moveTo>
                    <a:pt x="0" y="0"/>
                  </a:moveTo>
                  <a:lnTo>
                    <a:pt x="381762" y="0"/>
                  </a:lnTo>
                  <a:lnTo>
                    <a:pt x="381762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95595" t="0" r="-19559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087288" y="9921230"/>
            <a:ext cx="286312" cy="576262"/>
            <a:chOff x="0" y="0"/>
            <a:chExt cx="381749" cy="768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749" cy="768351"/>
            </a:xfrm>
            <a:custGeom>
              <a:avLst/>
              <a:gdLst/>
              <a:ahLst/>
              <a:cxnLst/>
              <a:rect r="r" b="b" t="t" l="l"/>
              <a:pathLst>
                <a:path h="768351" w="381749">
                  <a:moveTo>
                    <a:pt x="0" y="0"/>
                  </a:moveTo>
                  <a:lnTo>
                    <a:pt x="381749" y="0"/>
                  </a:lnTo>
                  <a:lnTo>
                    <a:pt x="381749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8237" t="0" r="-20823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81749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125561" y="5294357"/>
            <a:ext cx="202911" cy="202911"/>
          </a:xfrm>
          <a:custGeom>
            <a:avLst/>
            <a:gdLst/>
            <a:ahLst/>
            <a:cxnLst/>
            <a:rect r="r" b="b" t="t" l="l"/>
            <a:pathLst>
              <a:path h="202911" w="202911">
                <a:moveTo>
                  <a:pt x="0" y="0"/>
                </a:moveTo>
                <a:lnTo>
                  <a:pt x="202911" y="0"/>
                </a:lnTo>
                <a:lnTo>
                  <a:pt x="202911" y="202911"/>
                </a:lnTo>
                <a:lnTo>
                  <a:pt x="0" y="2029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5728680">
            <a:off x="235448" y="1581655"/>
            <a:ext cx="685362" cy="685362"/>
          </a:xfrm>
          <a:custGeom>
            <a:avLst/>
            <a:gdLst/>
            <a:ahLst/>
            <a:cxnLst/>
            <a:rect r="r" b="b" t="t" l="l"/>
            <a:pathLst>
              <a:path h="685362" w="685362">
                <a:moveTo>
                  <a:pt x="685362" y="0"/>
                </a:moveTo>
                <a:lnTo>
                  <a:pt x="0" y="0"/>
                </a:lnTo>
                <a:lnTo>
                  <a:pt x="0" y="685362"/>
                </a:lnTo>
                <a:lnTo>
                  <a:pt x="685362" y="685362"/>
                </a:lnTo>
                <a:lnTo>
                  <a:pt x="68536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792" y="1918268"/>
            <a:ext cx="5564953" cy="2015176"/>
          </a:xfrm>
          <a:custGeom>
            <a:avLst/>
            <a:gdLst/>
            <a:ahLst/>
            <a:cxnLst/>
            <a:rect r="r" b="b" t="t" l="l"/>
            <a:pathLst>
              <a:path h="2015176" w="5564953">
                <a:moveTo>
                  <a:pt x="0" y="0"/>
                </a:moveTo>
                <a:lnTo>
                  <a:pt x="5564953" y="0"/>
                </a:lnTo>
                <a:lnTo>
                  <a:pt x="5564953" y="2015176"/>
                </a:lnTo>
                <a:lnTo>
                  <a:pt x="0" y="20151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6058" y="2005336"/>
            <a:ext cx="497957" cy="497957"/>
          </a:xfrm>
          <a:custGeom>
            <a:avLst/>
            <a:gdLst/>
            <a:ahLst/>
            <a:cxnLst/>
            <a:rect r="r" b="b" t="t" l="l"/>
            <a:pathLst>
              <a:path h="497957" w="497957">
                <a:moveTo>
                  <a:pt x="0" y="0"/>
                </a:moveTo>
                <a:lnTo>
                  <a:pt x="497957" y="0"/>
                </a:lnTo>
                <a:lnTo>
                  <a:pt x="497957" y="497958"/>
                </a:lnTo>
                <a:lnTo>
                  <a:pt x="0" y="4979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6533" y="1995811"/>
            <a:ext cx="517007" cy="517007"/>
          </a:xfrm>
          <a:custGeom>
            <a:avLst/>
            <a:gdLst/>
            <a:ahLst/>
            <a:cxnLst/>
            <a:rect r="r" b="b" t="t" l="l"/>
            <a:pathLst>
              <a:path h="517007" w="517007">
                <a:moveTo>
                  <a:pt x="0" y="0"/>
                </a:moveTo>
                <a:lnTo>
                  <a:pt x="517007" y="0"/>
                </a:lnTo>
                <a:lnTo>
                  <a:pt x="517007" y="517008"/>
                </a:lnTo>
                <a:lnTo>
                  <a:pt x="0" y="51700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 rot="58560">
            <a:off x="939860" y="1548051"/>
            <a:ext cx="111841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377334" y="1105852"/>
            <a:ext cx="3672068" cy="709289"/>
          </a:xfrm>
          <a:custGeom>
            <a:avLst/>
            <a:gdLst/>
            <a:ahLst/>
            <a:cxnLst/>
            <a:rect r="r" b="b" t="t" l="l"/>
            <a:pathLst>
              <a:path h="709289" w="3672068">
                <a:moveTo>
                  <a:pt x="0" y="0"/>
                </a:moveTo>
                <a:lnTo>
                  <a:pt x="3672069" y="0"/>
                </a:lnTo>
                <a:lnTo>
                  <a:pt x="3672069" y="709289"/>
                </a:lnTo>
                <a:lnTo>
                  <a:pt x="0" y="70928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45027" y="1102452"/>
            <a:ext cx="836257" cy="836257"/>
          </a:xfrm>
          <a:custGeom>
            <a:avLst/>
            <a:gdLst/>
            <a:ahLst/>
            <a:cxnLst/>
            <a:rect r="r" b="b" t="t" l="l"/>
            <a:pathLst>
              <a:path h="836257" w="836257">
                <a:moveTo>
                  <a:pt x="0" y="0"/>
                </a:moveTo>
                <a:lnTo>
                  <a:pt x="836257" y="0"/>
                </a:lnTo>
                <a:lnTo>
                  <a:pt x="836257" y="836257"/>
                </a:lnTo>
                <a:lnTo>
                  <a:pt x="0" y="83625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15915" y="1240060"/>
            <a:ext cx="494500" cy="494500"/>
          </a:xfrm>
          <a:custGeom>
            <a:avLst/>
            <a:gdLst/>
            <a:ahLst/>
            <a:cxnLst/>
            <a:rect r="r" b="b" t="t" l="l"/>
            <a:pathLst>
              <a:path h="494500" w="494500">
                <a:moveTo>
                  <a:pt x="0" y="0"/>
                </a:moveTo>
                <a:lnTo>
                  <a:pt x="494500" y="0"/>
                </a:lnTo>
                <a:lnTo>
                  <a:pt x="494500" y="494500"/>
                </a:lnTo>
                <a:lnTo>
                  <a:pt x="0" y="494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5792" y="3902145"/>
            <a:ext cx="5564953" cy="2015176"/>
          </a:xfrm>
          <a:custGeom>
            <a:avLst/>
            <a:gdLst/>
            <a:ahLst/>
            <a:cxnLst/>
            <a:rect r="r" b="b" t="t" l="l"/>
            <a:pathLst>
              <a:path h="2015176" w="5564953">
                <a:moveTo>
                  <a:pt x="0" y="0"/>
                </a:moveTo>
                <a:lnTo>
                  <a:pt x="5564953" y="0"/>
                </a:lnTo>
                <a:lnTo>
                  <a:pt x="5564953" y="2015176"/>
                </a:lnTo>
                <a:lnTo>
                  <a:pt x="0" y="20151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5792" y="7871222"/>
            <a:ext cx="5564953" cy="2015176"/>
          </a:xfrm>
          <a:custGeom>
            <a:avLst/>
            <a:gdLst/>
            <a:ahLst/>
            <a:cxnLst/>
            <a:rect r="r" b="b" t="t" l="l"/>
            <a:pathLst>
              <a:path h="2015176" w="5564953">
                <a:moveTo>
                  <a:pt x="0" y="0"/>
                </a:moveTo>
                <a:lnTo>
                  <a:pt x="5564953" y="0"/>
                </a:lnTo>
                <a:lnTo>
                  <a:pt x="5564953" y="2015176"/>
                </a:lnTo>
                <a:lnTo>
                  <a:pt x="0" y="20151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033506" y="5669004"/>
            <a:ext cx="3834127" cy="3502943"/>
            <a:chOff x="0" y="0"/>
            <a:chExt cx="5112169" cy="46705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12131" cy="4670552"/>
            </a:xfrm>
            <a:custGeom>
              <a:avLst/>
              <a:gdLst/>
              <a:ahLst/>
              <a:cxnLst/>
              <a:rect r="r" b="b" t="t" l="l"/>
              <a:pathLst>
                <a:path h="4670552" w="5112131">
                  <a:moveTo>
                    <a:pt x="0" y="0"/>
                  </a:moveTo>
                  <a:lnTo>
                    <a:pt x="5112131" y="0"/>
                  </a:lnTo>
                  <a:lnTo>
                    <a:pt x="5112131" y="4670552"/>
                  </a:lnTo>
                  <a:lnTo>
                    <a:pt x="0" y="4670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7682" r="0" b="-7684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3789609" y="5439061"/>
            <a:ext cx="4372118" cy="3877513"/>
          </a:xfrm>
          <a:custGeom>
            <a:avLst/>
            <a:gdLst/>
            <a:ahLst/>
            <a:cxnLst/>
            <a:rect r="r" b="b" t="t" l="l"/>
            <a:pathLst>
              <a:path h="3877513" w="4372118">
                <a:moveTo>
                  <a:pt x="0" y="0"/>
                </a:moveTo>
                <a:lnTo>
                  <a:pt x="4372118" y="0"/>
                </a:lnTo>
                <a:lnTo>
                  <a:pt x="4372118" y="3877513"/>
                </a:lnTo>
                <a:lnTo>
                  <a:pt x="0" y="387751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057771" y="1706156"/>
            <a:ext cx="11472396" cy="1685011"/>
            <a:chOff x="0" y="0"/>
            <a:chExt cx="15296528" cy="22466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96514" cy="2246630"/>
            </a:xfrm>
            <a:custGeom>
              <a:avLst/>
              <a:gdLst/>
              <a:ahLst/>
              <a:cxnLst/>
              <a:rect r="r" b="b" t="t" l="l"/>
              <a:pathLst>
                <a:path h="2246630" w="15296514">
                  <a:moveTo>
                    <a:pt x="0" y="0"/>
                  </a:moveTo>
                  <a:lnTo>
                    <a:pt x="15296514" y="0"/>
                  </a:lnTo>
                  <a:lnTo>
                    <a:pt x="15296514" y="2246630"/>
                  </a:lnTo>
                  <a:lnTo>
                    <a:pt x="0" y="2246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-146" r="0" b="-149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6035926" y="3350219"/>
            <a:ext cx="2327510" cy="2016471"/>
          </a:xfrm>
          <a:custGeom>
            <a:avLst/>
            <a:gdLst/>
            <a:ahLst/>
            <a:cxnLst/>
            <a:rect r="r" b="b" t="t" l="l"/>
            <a:pathLst>
              <a:path h="2016471" w="2327510">
                <a:moveTo>
                  <a:pt x="0" y="0"/>
                </a:moveTo>
                <a:lnTo>
                  <a:pt x="2327510" y="0"/>
                </a:lnTo>
                <a:lnTo>
                  <a:pt x="2327510" y="2016471"/>
                </a:lnTo>
                <a:lnTo>
                  <a:pt x="0" y="2016471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333070" y="3350219"/>
            <a:ext cx="2327510" cy="1990782"/>
          </a:xfrm>
          <a:custGeom>
            <a:avLst/>
            <a:gdLst/>
            <a:ahLst/>
            <a:cxnLst/>
            <a:rect r="r" b="b" t="t" l="l"/>
            <a:pathLst>
              <a:path h="1990782" w="2327510">
                <a:moveTo>
                  <a:pt x="0" y="0"/>
                </a:moveTo>
                <a:lnTo>
                  <a:pt x="2327510" y="0"/>
                </a:lnTo>
                <a:lnTo>
                  <a:pt x="2327510" y="1990782"/>
                </a:lnTo>
                <a:lnTo>
                  <a:pt x="0" y="199078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927359" y="3350219"/>
            <a:ext cx="2327510" cy="2016471"/>
          </a:xfrm>
          <a:custGeom>
            <a:avLst/>
            <a:gdLst/>
            <a:ahLst/>
            <a:cxnLst/>
            <a:rect r="r" b="b" t="t" l="l"/>
            <a:pathLst>
              <a:path h="2016471" w="2327510">
                <a:moveTo>
                  <a:pt x="0" y="0"/>
                </a:moveTo>
                <a:lnTo>
                  <a:pt x="2327510" y="0"/>
                </a:lnTo>
                <a:lnTo>
                  <a:pt x="2327510" y="2016471"/>
                </a:lnTo>
                <a:lnTo>
                  <a:pt x="0" y="201647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630214" y="3350219"/>
            <a:ext cx="2327510" cy="2016471"/>
          </a:xfrm>
          <a:custGeom>
            <a:avLst/>
            <a:gdLst/>
            <a:ahLst/>
            <a:cxnLst/>
            <a:rect r="r" b="b" t="t" l="l"/>
            <a:pathLst>
              <a:path h="2016471" w="2327510">
                <a:moveTo>
                  <a:pt x="0" y="0"/>
                </a:moveTo>
                <a:lnTo>
                  <a:pt x="2327510" y="0"/>
                </a:lnTo>
                <a:lnTo>
                  <a:pt x="2327510" y="2016471"/>
                </a:lnTo>
                <a:lnTo>
                  <a:pt x="0" y="2016471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224512" y="3350219"/>
            <a:ext cx="2327510" cy="2025139"/>
          </a:xfrm>
          <a:custGeom>
            <a:avLst/>
            <a:gdLst/>
            <a:ahLst/>
            <a:cxnLst/>
            <a:rect r="r" b="b" t="t" l="l"/>
            <a:pathLst>
              <a:path h="2025139" w="2327510">
                <a:moveTo>
                  <a:pt x="0" y="0"/>
                </a:moveTo>
                <a:lnTo>
                  <a:pt x="2327510" y="0"/>
                </a:lnTo>
                <a:lnTo>
                  <a:pt x="2327510" y="2025139"/>
                </a:lnTo>
                <a:lnTo>
                  <a:pt x="0" y="2025139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30834" y="4230300"/>
            <a:ext cx="528217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000000"/>
                </a:solidFill>
                <a:latin typeface="Tomorrow Bold"/>
              </a:rPr>
              <a:t>Technical Institutions, Colleges &amp; Trusts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5183562" y="4027618"/>
            <a:ext cx="497957" cy="497957"/>
          </a:xfrm>
          <a:custGeom>
            <a:avLst/>
            <a:gdLst/>
            <a:ahLst/>
            <a:cxnLst/>
            <a:rect r="r" b="b" t="t" l="l"/>
            <a:pathLst>
              <a:path h="497957" w="497957">
                <a:moveTo>
                  <a:pt x="0" y="0"/>
                </a:moveTo>
                <a:lnTo>
                  <a:pt x="497958" y="0"/>
                </a:lnTo>
                <a:lnTo>
                  <a:pt x="497958" y="497957"/>
                </a:lnTo>
                <a:lnTo>
                  <a:pt x="0" y="4979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5067" y="5867629"/>
            <a:ext cx="5564953" cy="2015176"/>
          </a:xfrm>
          <a:custGeom>
            <a:avLst/>
            <a:gdLst/>
            <a:ahLst/>
            <a:cxnLst/>
            <a:rect r="r" b="b" t="t" l="l"/>
            <a:pathLst>
              <a:path h="2015176" w="5564953">
                <a:moveTo>
                  <a:pt x="0" y="0"/>
                </a:moveTo>
                <a:lnTo>
                  <a:pt x="5564953" y="0"/>
                </a:lnTo>
                <a:lnTo>
                  <a:pt x="5564953" y="2015175"/>
                </a:lnTo>
                <a:lnTo>
                  <a:pt x="0" y="2015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13827" y="5916901"/>
            <a:ext cx="497957" cy="497957"/>
          </a:xfrm>
          <a:custGeom>
            <a:avLst/>
            <a:gdLst/>
            <a:ahLst/>
            <a:cxnLst/>
            <a:rect r="r" b="b" t="t" l="l"/>
            <a:pathLst>
              <a:path h="497957" w="497957">
                <a:moveTo>
                  <a:pt x="0" y="0"/>
                </a:moveTo>
                <a:lnTo>
                  <a:pt x="497957" y="0"/>
                </a:lnTo>
                <a:lnTo>
                  <a:pt x="497957" y="497958"/>
                </a:lnTo>
                <a:lnTo>
                  <a:pt x="0" y="4979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183562" y="8025270"/>
            <a:ext cx="497957" cy="497957"/>
          </a:xfrm>
          <a:custGeom>
            <a:avLst/>
            <a:gdLst/>
            <a:ahLst/>
            <a:cxnLst/>
            <a:rect r="r" b="b" t="t" l="l"/>
            <a:pathLst>
              <a:path h="497957" w="497957">
                <a:moveTo>
                  <a:pt x="0" y="0"/>
                </a:moveTo>
                <a:lnTo>
                  <a:pt x="497958" y="0"/>
                </a:lnTo>
                <a:lnTo>
                  <a:pt x="497958" y="497957"/>
                </a:lnTo>
                <a:lnTo>
                  <a:pt x="0" y="4979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183562" y="3991699"/>
            <a:ext cx="524342" cy="524342"/>
          </a:xfrm>
          <a:custGeom>
            <a:avLst/>
            <a:gdLst/>
            <a:ahLst/>
            <a:cxnLst/>
            <a:rect r="r" b="b" t="t" l="l"/>
            <a:pathLst>
              <a:path h="524342" w="524342">
                <a:moveTo>
                  <a:pt x="0" y="0"/>
                </a:moveTo>
                <a:lnTo>
                  <a:pt x="524342" y="0"/>
                </a:lnTo>
                <a:lnTo>
                  <a:pt x="524342" y="524342"/>
                </a:lnTo>
                <a:lnTo>
                  <a:pt x="0" y="524342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93577" y="5897851"/>
            <a:ext cx="507482" cy="507482"/>
          </a:xfrm>
          <a:custGeom>
            <a:avLst/>
            <a:gdLst/>
            <a:ahLst/>
            <a:cxnLst/>
            <a:rect r="r" b="b" t="t" l="l"/>
            <a:pathLst>
              <a:path h="507482" w="507482">
                <a:moveTo>
                  <a:pt x="0" y="0"/>
                </a:moveTo>
                <a:lnTo>
                  <a:pt x="507482" y="0"/>
                </a:lnTo>
                <a:lnTo>
                  <a:pt x="507482" y="507483"/>
                </a:lnTo>
                <a:lnTo>
                  <a:pt x="0" y="507483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196497" y="7977645"/>
            <a:ext cx="511407" cy="511407"/>
          </a:xfrm>
          <a:custGeom>
            <a:avLst/>
            <a:gdLst/>
            <a:ahLst/>
            <a:cxnLst/>
            <a:rect r="r" b="b" t="t" l="l"/>
            <a:pathLst>
              <a:path h="511407" w="511407">
                <a:moveTo>
                  <a:pt x="0" y="0"/>
                </a:moveTo>
                <a:lnTo>
                  <a:pt x="511407" y="0"/>
                </a:lnTo>
                <a:lnTo>
                  <a:pt x="511407" y="511406"/>
                </a:lnTo>
                <a:lnTo>
                  <a:pt x="0" y="51140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427681" y="1857094"/>
            <a:ext cx="780202" cy="683781"/>
            <a:chOff x="0" y="0"/>
            <a:chExt cx="1040270" cy="9117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0257" cy="911733"/>
            </a:xfrm>
            <a:custGeom>
              <a:avLst/>
              <a:gdLst/>
              <a:ahLst/>
              <a:cxnLst/>
              <a:rect r="r" b="b" t="t" l="l"/>
              <a:pathLst>
                <a:path h="911733" w="1040257">
                  <a:moveTo>
                    <a:pt x="0" y="0"/>
                  </a:moveTo>
                  <a:lnTo>
                    <a:pt x="1040257" y="0"/>
                  </a:lnTo>
                  <a:lnTo>
                    <a:pt x="1040257" y="911733"/>
                  </a:lnTo>
                  <a:lnTo>
                    <a:pt x="0" y="911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0" r="-2" b="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682939" y="1734560"/>
            <a:ext cx="778250" cy="778250"/>
            <a:chOff x="0" y="0"/>
            <a:chExt cx="1037666" cy="10376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7717" cy="1037717"/>
            </a:xfrm>
            <a:custGeom>
              <a:avLst/>
              <a:gdLst/>
              <a:ahLst/>
              <a:cxnLst/>
              <a:rect r="r" b="b" t="t" l="l"/>
              <a:pathLst>
                <a:path h="1037717" w="1037717">
                  <a:moveTo>
                    <a:pt x="0" y="0"/>
                  </a:moveTo>
                  <a:lnTo>
                    <a:pt x="1037717" y="0"/>
                  </a:lnTo>
                  <a:lnTo>
                    <a:pt x="1037717" y="1037717"/>
                  </a:lnTo>
                  <a:lnTo>
                    <a:pt x="0" y="1037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 l="0" t="0" r="4" b="4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26657" y="1829038"/>
            <a:ext cx="869718" cy="625097"/>
            <a:chOff x="0" y="0"/>
            <a:chExt cx="1159624" cy="833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59637" cy="833501"/>
            </a:xfrm>
            <a:custGeom>
              <a:avLst/>
              <a:gdLst/>
              <a:ahLst/>
              <a:cxnLst/>
              <a:rect r="r" b="b" t="t" l="l"/>
              <a:pathLst>
                <a:path h="833501" w="1159637">
                  <a:moveTo>
                    <a:pt x="0" y="0"/>
                  </a:moveTo>
                  <a:lnTo>
                    <a:pt x="1159637" y="0"/>
                  </a:lnTo>
                  <a:lnTo>
                    <a:pt x="1159637" y="833501"/>
                  </a:lnTo>
                  <a:lnTo>
                    <a:pt x="0" y="833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 l="0" t="-60" r="1" b="-54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02432" y="1224201"/>
            <a:ext cx="349284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tru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POTENTIAL IMPACT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019324" y="9337181"/>
            <a:ext cx="12074423" cy="55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8"/>
              </a:lnSpc>
            </a:pPr>
            <a:r>
              <a:rPr sz="1800" b="1">
                <a:solidFill>
                  <a:srgbClr val="000000"/>
                </a:solidFill>
                <a:latin typeface="Trade Gothic Condensed Bold"/>
              </a:rPr>
              <a:t>AICTE governs thousands of technical institutions, yet physical deposit verification caused 45-day lags and counterfeit exposure. SIH26265 establishes a sovereign terminal ensuring 100% verified, tamper-evident regulatory compliance.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0834" y="2163623"/>
            <a:ext cx="528217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000000"/>
                </a:solidFill>
                <a:latin typeface="Tomorrow Bold"/>
              </a:rPr>
              <a:t>AICTE Regulation Bureau &amp; Regional Offices</a:t>
            </a:r>
          </a:p>
        </p:txBody>
      </p:sp>
      <p:sp>
        <p:nvSpPr>
          <p:cNvPr name="Freeform 51" id="51"/>
          <p:cNvSpPr/>
          <p:nvPr/>
        </p:nvSpPr>
        <p:spPr>
          <a:xfrm flipH="true" flipV="false" rot="0">
            <a:off x="4952428" y="1530106"/>
            <a:ext cx="685362" cy="685362"/>
          </a:xfrm>
          <a:custGeom>
            <a:avLst/>
            <a:gdLst/>
            <a:ahLst/>
            <a:cxnLst/>
            <a:rect r="r" b="b" t="t" l="l"/>
            <a:pathLst>
              <a:path h="685362" w="685362">
                <a:moveTo>
                  <a:pt x="685362" y="0"/>
                </a:moveTo>
                <a:lnTo>
                  <a:pt x="0" y="0"/>
                </a:lnTo>
                <a:lnTo>
                  <a:pt x="0" y="685361"/>
                </a:lnTo>
                <a:lnTo>
                  <a:pt x="685362" y="685361"/>
                </a:lnTo>
                <a:lnTo>
                  <a:pt x="68536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 descr="Your startup LOGO"/>
          <p:cNvSpPr/>
          <p:nvPr/>
        </p:nvSpPr>
        <p:spPr>
          <a:xfrm flipH="false" flipV="false" rot="0">
            <a:off x="267357" y="135150"/>
            <a:ext cx="2472700" cy="900703"/>
          </a:xfrm>
          <a:custGeom>
            <a:avLst/>
            <a:gdLst/>
            <a:ahLst/>
            <a:cxnLst/>
            <a:rect r="r" b="b" t="t" l="l"/>
            <a:pathLst>
              <a:path h="900703" w="2472700">
                <a:moveTo>
                  <a:pt x="0" y="0"/>
                </a:moveTo>
                <a:lnTo>
                  <a:pt x="2472700" y="0"/>
                </a:lnTo>
                <a:lnTo>
                  <a:pt x="2472700" y="900703"/>
                </a:lnTo>
                <a:lnTo>
                  <a:pt x="0" y="900703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274501" y="99431"/>
            <a:ext cx="2458450" cy="929269"/>
            <a:chOff x="0" y="0"/>
            <a:chExt cx="3277934" cy="12390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77938" cy="1239023"/>
            </a:xfrm>
            <a:custGeom>
              <a:avLst/>
              <a:gdLst/>
              <a:ahLst/>
              <a:cxnLst/>
              <a:rect r="r" b="b" t="t" l="l"/>
              <a:pathLst>
                <a:path h="1239023" w="3277938">
                  <a:moveTo>
                    <a:pt x="0" y="0"/>
                  </a:moveTo>
                  <a:lnTo>
                    <a:pt x="3277938" y="0"/>
                  </a:lnTo>
                  <a:lnTo>
                    <a:pt x="3277938" y="1239023"/>
                  </a:lnTo>
                  <a:lnTo>
                    <a:pt x="0" y="123902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49" r="0" b="-154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3277934" cy="1296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Legacy Coderz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flipV="true">
            <a:off x="6063667" y="6732061"/>
            <a:ext cx="7432310" cy="0"/>
          </a:xfrm>
          <a:prstGeom prst="line">
            <a:avLst/>
          </a:prstGeom>
          <a:ln cap="rnd" w="47625">
            <a:solidFill>
              <a:srgbClr val="C9D3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6069519" y="6691207"/>
            <a:ext cx="7403508" cy="28557"/>
          </a:xfrm>
          <a:prstGeom prst="line">
            <a:avLst/>
          </a:prstGeom>
          <a:ln cap="rnd" w="19050">
            <a:solidFill>
              <a:srgbClr val="111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>
            <a:off x="6036109" y="7666016"/>
            <a:ext cx="7432090" cy="57205"/>
          </a:xfrm>
          <a:prstGeom prst="line">
            <a:avLst/>
          </a:prstGeom>
          <a:ln cap="rnd" w="47625">
            <a:solidFill>
              <a:srgbClr val="C9D3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6063704" y="7666062"/>
            <a:ext cx="7403508" cy="28557"/>
          </a:xfrm>
          <a:prstGeom prst="line">
            <a:avLst/>
          </a:prstGeom>
          <a:ln cap="rnd" w="19050">
            <a:solidFill>
              <a:srgbClr val="111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6063851" y="8597409"/>
            <a:ext cx="7432090" cy="57205"/>
          </a:xfrm>
          <a:prstGeom prst="line">
            <a:avLst/>
          </a:prstGeom>
          <a:ln cap="rnd" w="47625">
            <a:solidFill>
              <a:srgbClr val="C9D3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6049708" y="8602780"/>
            <a:ext cx="7403508" cy="28557"/>
          </a:xfrm>
          <a:prstGeom prst="line">
            <a:avLst/>
          </a:prstGeom>
          <a:ln cap="rnd" w="19050">
            <a:solidFill>
              <a:srgbClr val="111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2" id="62"/>
          <p:cNvSpPr/>
          <p:nvPr/>
        </p:nvSpPr>
        <p:spPr>
          <a:xfrm flipH="false" flipV="false" rot="0">
            <a:off x="8268614" y="5563348"/>
            <a:ext cx="3005318" cy="473707"/>
          </a:xfrm>
          <a:custGeom>
            <a:avLst/>
            <a:gdLst/>
            <a:ahLst/>
            <a:cxnLst/>
            <a:rect r="r" b="b" t="t" l="l"/>
            <a:pathLst>
              <a:path h="473707" w="3005318">
                <a:moveTo>
                  <a:pt x="0" y="0"/>
                </a:moveTo>
                <a:lnTo>
                  <a:pt x="3005319" y="0"/>
                </a:lnTo>
                <a:lnTo>
                  <a:pt x="3005319" y="473707"/>
                </a:lnTo>
                <a:lnTo>
                  <a:pt x="0" y="47370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6972300" y="9929479"/>
            <a:ext cx="4806001" cy="547688"/>
            <a:chOff x="0" y="0"/>
            <a:chExt cx="6408001" cy="7302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0864" r="0" b="-120862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972300" y="9908048"/>
            <a:ext cx="4806001" cy="569119"/>
            <a:chOff x="0" y="0"/>
            <a:chExt cx="6408001" cy="75882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08001" cy="758826"/>
            </a:xfrm>
            <a:custGeom>
              <a:avLst/>
              <a:gdLst/>
              <a:ahLst/>
              <a:cxnLst/>
              <a:rect r="r" b="b" t="t" l="l"/>
              <a:pathLst>
                <a:path h="758826" w="6408001">
                  <a:moveTo>
                    <a:pt x="0" y="0"/>
                  </a:moveTo>
                  <a:lnTo>
                    <a:pt x="6408001" y="0"/>
                  </a:lnTo>
                  <a:lnTo>
                    <a:pt x="6408001" y="758826"/>
                  </a:lnTo>
                  <a:lnTo>
                    <a:pt x="0" y="7588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4543" r="0" b="-11454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6408001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59"/>
                </a:lnSpc>
              </a:pPr>
              <a:r>
                <a:rPr lang="en-US" sz="1299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7653673" y="1929136"/>
            <a:ext cx="532305" cy="3041323"/>
          </a:xfrm>
          <a:custGeom>
            <a:avLst/>
            <a:gdLst/>
            <a:ahLst/>
            <a:cxnLst/>
            <a:rect r="r" b="b" t="t" l="l"/>
            <a:pathLst>
              <a:path h="3041323" w="532305">
                <a:moveTo>
                  <a:pt x="0" y="0"/>
                </a:moveTo>
                <a:lnTo>
                  <a:pt x="532305" y="0"/>
                </a:lnTo>
                <a:lnTo>
                  <a:pt x="532305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6620789" y="0"/>
            <a:ext cx="552283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IMPACT AND BENEFITS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394161" y="2818600"/>
            <a:ext cx="178141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Operational Velocity</a:t>
            </a:r>
          </a:p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Boost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091391" y="1133713"/>
            <a:ext cx="40600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01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383344" y="1118892"/>
            <a:ext cx="40600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02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679545" y="1118892"/>
            <a:ext cx="40600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03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926217" y="1133713"/>
            <a:ext cx="40600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04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225580" y="1133713"/>
            <a:ext cx="40600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05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77383" y="6193126"/>
            <a:ext cx="465515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sz="1700" b="1">
                <a:solidFill>
                  <a:srgbClr val="000000"/>
                </a:solidFill>
                <a:latin typeface="Tomorrow Bold"/>
              </a:rPr>
              <a:t>Scheduled Commercial &amp; Public Sector Banks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050310" y="6046818"/>
            <a:ext cx="260336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"/>
              </a:lnSpc>
            </a:pPr>
            <a:r>
              <a:rPr sz="1449" b="1">
                <a:solidFill>
                  <a:srgbClr val="000000"/>
                </a:solidFill>
                <a:latin typeface="Trade Gothic Condensed Bold"/>
              </a:rPr>
              <a:t>OPEN-SOURCE —</a:t>
            </a:r>
            <a:r>
              <a:rPr sz="1449" b="0">
                <a:solidFill>
                  <a:srgbClr val="000000"/>
                </a:solidFill>
                <a:latin typeface="Trade Gothic Condensed"/>
              </a:rPr>
              <a:t> Zero Licensing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008457" y="6711117"/>
            <a:ext cx="2769041" cy="22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"/>
              </a:lnSpc>
            </a:pPr>
            <a:r>
              <a:rPr sz="1449" b="1">
                <a:solidFill>
                  <a:srgbClr val="000000"/>
                </a:solidFill>
                <a:latin typeface="Trade Gothic Condensed Bold"/>
              </a:rPr>
              <a:t>GOV ALIGNED —</a:t>
            </a:r>
            <a:r>
              <a:rPr sz="1449" b="0">
                <a:solidFill>
                  <a:srgbClr val="000000"/>
                </a:solidFill>
                <a:latin typeface="Trade Gothic Condensed"/>
              </a:rPr>
              <a:t> APH 2024 &amp; GFR 2017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5098597" y="7386757"/>
            <a:ext cx="2769041" cy="22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"/>
              </a:lnSpc>
            </a:pPr>
            <a:r>
              <a:rPr sz="1449" b="1">
                <a:solidFill>
                  <a:srgbClr val="000000"/>
                </a:solidFill>
                <a:latin typeface="Trade Gothic Condensed Bold"/>
              </a:rPr>
              <a:t>100% BILINGUAL —</a:t>
            </a:r>
            <a:r>
              <a:rPr sz="1449" b="0">
                <a:solidFill>
                  <a:srgbClr val="000000"/>
                </a:solidFill>
                <a:latin typeface="Trade Gothic Condensed"/>
              </a:rPr>
              <a:t> Hindi &amp; English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098597" y="8052872"/>
            <a:ext cx="276904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"/>
              </a:lnSpc>
            </a:pPr>
            <a:r>
              <a:rPr sz="1449" b="1">
                <a:solidFill>
                  <a:srgbClr val="000000"/>
                </a:solidFill>
                <a:latin typeface="Trade Gothic Condensed Bold"/>
              </a:rPr>
              <a:t>DUAL-SOURCE —</a:t>
            </a:r>
            <a:r>
              <a:rPr sz="1449" b="0">
                <a:solidFill>
                  <a:srgbClr val="000000"/>
                </a:solidFill>
                <a:latin typeface="Trade Gothic Condensed"/>
              </a:rPr>
              <a:t> Declared vs CBS Bank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653862" y="8652947"/>
            <a:ext cx="2453426" cy="4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4"/>
              </a:lnSpc>
            </a:pPr>
            <a:r>
              <a:rPr sz="1449" b="1">
                <a:solidFill>
                  <a:srgbClr val="000000"/>
                </a:solidFill>
                <a:latin typeface="Trade Gothic Condensed Bold"/>
              </a:rPr>
              <a:t>AUDIT-READY —</a:t>
            </a:r>
            <a:r>
              <a:rPr sz="1449" b="0">
                <a:solidFill>
                  <a:srgbClr val="000000"/>
                </a:solidFill>
                <a:latin typeface="Trade Gothic Condensed"/>
              </a:rPr>
              <a:t> SHA-256 Hash Chain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30834" y="2768670"/>
            <a:ext cx="4790570" cy="84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Sovereign real-time command console over ₹400+ Cr statutory reserves with live 12-month maturity ladders.</a:t>
            </a:r>
          </a:p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Automated Hard Release Gate eliminates premature discharge liability and paper-file routing leakage.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744750" y="2791730"/>
            <a:ext cx="160699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Regulatory Vigilance</a:t>
            </a:r>
          </a:p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Boost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181916" y="3589325"/>
            <a:ext cx="2071087" cy="161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sz="1399" b="1">
                <a:solidFill>
                  <a:srgbClr val="FF3131"/>
                </a:solidFill>
                <a:latin typeface="Tomorrow Bold"/>
              </a:rPr>
              <a:t>96.6% Faster Verification (1.5 Days).</a:t>
            </a:r>
            <a:r>
              <a:rPr sz="1399" b="0">
                <a:solidFill>
                  <a:srgbClr val="000000"/>
                </a:solidFill>
                <a:latin typeface="Tomorrow"/>
              </a:rPr>
              <a:t> Automated CBS query and SFMS MT760 messaging replace 45-day postal turnaround delays.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469535" y="3572142"/>
            <a:ext cx="2018462" cy="141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sz="1399" b="1">
                <a:solidFill>
                  <a:srgbClr val="44A695"/>
                </a:solidFill>
                <a:latin typeface="Tomorrow Bold"/>
              </a:rPr>
              <a:t>100% Deterministic Intercept.</a:t>
            </a:r>
            <a:r>
              <a:rPr sz="1399" b="0">
                <a:solidFill>
                  <a:srgbClr val="1A1A1A"/>
                </a:solidFill>
                <a:latin typeface="Tomorrow"/>
              </a:rPr>
              <a:t> 8-rule compliance engine catches IFSC mismatches, temporal date inversions, and counterfeit certificates at intake.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59709" y="8139979"/>
            <a:ext cx="460000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>
                <a:solidFill>
                  <a:srgbClr val="000000"/>
                </a:solidFill>
                <a:latin typeface="Tomorrow Bold"/>
              </a:rPr>
              <a:t>Statutory Auditors, Students &amp; Public Interest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070824" y="3577981"/>
            <a:ext cx="2068544" cy="141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sz="1399" b="1">
                <a:solidFill>
                  <a:srgbClr val="F26720"/>
                </a:solidFill>
                <a:latin typeface="Tomorrow Bold"/>
              </a:rPr>
              <a:t>1,120 Person-Hours Saved.</a:t>
            </a:r>
            <a:r>
              <a:rPr sz="1399" b="0">
                <a:solidFill>
                  <a:srgbClr val="1A1A1A"/>
                </a:solidFill>
                <a:latin typeface="Tomorrow"/>
              </a:rPr>
              <a:t> 12-month visual maturity ladder and transparent 100-pt Attention Scoring replace manual ledger tracking.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5353986" y="3610896"/>
            <a:ext cx="2071087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sz="1399" b="1">
                <a:solidFill>
                  <a:srgbClr val="1A1A1A"/>
                </a:solidFill>
                <a:latin typeface="Tomorrow Bold"/>
              </a:rPr>
              <a:t>Immutable SHA-256 Ledger.</a:t>
            </a:r>
            <a:r>
              <a:rPr sz="1399" b="0">
                <a:solidFill>
                  <a:srgbClr val="1A1A1A"/>
                </a:solidFill>
                <a:latin typeface="Tomorrow"/>
              </a:rPr>
              <a:t> Tamper-evident cryptographic audit chain and masked views fully compliant with GFR 2017 &amp; DPDP Act 2023.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693022" y="3572142"/>
            <a:ext cx="2230469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"/>
              </a:lnSpc>
            </a:pPr>
            <a:r>
              <a:rPr sz="1399" b="1">
                <a:solidFill>
                  <a:srgbClr val="8141BA"/>
                </a:solidFill>
                <a:latin typeface="Tomorrow Bold"/>
              </a:rPr>
              <a:t>Hard Release Gate Defense.</a:t>
            </a:r>
            <a:r>
              <a:rPr sz="1399" b="0">
                <a:solidFill>
                  <a:srgbClr val="1A1A1A"/>
                </a:solidFill>
                <a:latin typeface="Tomorrow"/>
              </a:rPr>
              <a:t> Strictly halts premature corpus release and encashment across ₹400+ Cr deposits until all statutory compliances clear.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741314" y="2810142"/>
            <a:ext cx="216699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Zero Release Leakage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262524" y="2925080"/>
            <a:ext cx="175474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Maturity &amp; Triage</a:t>
            </a:r>
          </a:p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Intelligence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5666639" y="2934605"/>
            <a:ext cx="146018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sz="1898" b="1">
                <a:solidFill>
                  <a:srgbClr val="FFFFFF"/>
                </a:solidFill>
                <a:latin typeface="Trade Gothic Condensed Bold"/>
              </a:rPr>
              <a:t>Cryptographic Trust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40969" y="4658925"/>
            <a:ext cx="4780426" cy="84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100% digital self-service desk with 10-year renewal wizard, ending postal lost certificates.</a:t>
            </a:r>
          </a:p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Transparent real-time refund status tracking without physical regional office visits or delays.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385462" y="5683664"/>
            <a:ext cx="282813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sz="2099" b="1">
                <a:solidFill>
                  <a:srgbClr val="FFFFFF"/>
                </a:solidFill>
                <a:latin typeface="Trade Gothic Condensed Bold"/>
              </a:rPr>
              <a:t>Government &amp; Regulatory Impact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234398" y="6140864"/>
            <a:ext cx="7209330" cy="42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sz="1449" b="1">
                <a:solidFill>
                  <a:srgbClr val="000000"/>
                </a:solidFill>
                <a:latin typeface="Tomorrow Bold"/>
              </a:rPr>
              <a:t>Eliminates Counterfeit Instruments: </a:t>
            </a:r>
            <a:r>
              <a:rPr sz="1449" b="0">
                <a:solidFill>
                  <a:srgbClr val="000000"/>
                </a:solidFill>
                <a:latin typeface="Tomorrow"/>
              </a:rPr>
              <a:t>Directly resolves regulatory risks of forged deposit receipts and duplicate multi-pledging across institutions via instant dual-source CBS provenance matching.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131452" y="6923094"/>
            <a:ext cx="7231694" cy="637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sz="1449" b="1">
                <a:solidFill>
                  <a:srgbClr val="000000"/>
                </a:solidFill>
                <a:latin typeface="Tomorrow Bold"/>
              </a:rPr>
              <a:t>Pan-India Liquidity &amp; Maturity Ladder: </a:t>
            </a:r>
            <a:r>
              <a:rPr sz="1449" b="0">
                <a:solidFill>
                  <a:srgbClr val="000000"/>
                </a:solidFill>
                <a:latin typeface="Tomorrow"/>
              </a:rPr>
              <a:t>Synthesizes multi-regional collegiate deposits into a sovereign command terminal, alerting officers at 90/60/30/15/7 days before statutory lock-in expires.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6168295" y="7931258"/>
            <a:ext cx="7262470" cy="42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sz="1449" b="1">
                <a:solidFill>
                  <a:srgbClr val="000000"/>
                </a:solidFill>
                <a:latin typeface="Tomorrow Bold"/>
              </a:rPr>
              <a:t>Guaranteed Student Corpus Protection: </a:t>
            </a:r>
            <a:r>
              <a:rPr sz="1449" b="0">
                <a:solidFill>
                  <a:srgbClr val="000000"/>
                </a:solidFill>
                <a:latin typeface="Tomorrow"/>
              </a:rPr>
              <a:t>Safeguards ₹400+ Cr in educational security deposits, preventing unauthorized pre-closure and enforcing infrastructure compliance before release.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6216701" y="8743469"/>
            <a:ext cx="7244725" cy="42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sz="1449" b="1">
                <a:solidFill>
                  <a:srgbClr val="000000"/>
                </a:solidFill>
                <a:latin typeface="Tomorrow Bold"/>
              </a:rPr>
              <a:t>National Regulatory Impact</a:t>
            </a:r>
            <a:r>
              <a:rPr sz="1449" b="0">
                <a:solidFill>
                  <a:srgbClr val="000000"/>
                </a:solidFill>
                <a:latin typeface="Tomorrow"/>
              </a:rPr>
              <a:t> | </a:t>
            </a:r>
            <a:r>
              <a:rPr sz="1449" b="1">
                <a:solidFill>
                  <a:srgbClr val="000000"/>
                </a:solidFill>
                <a:latin typeface="Tomorrow Bold"/>
              </a:rPr>
              <a:t>₹400+ Cr Statutory Corpus Protected</a:t>
            </a:r>
            <a:r>
              <a:rPr sz="1449" b="0">
                <a:solidFill>
                  <a:srgbClr val="000000"/>
                </a:solidFill>
                <a:latin typeface="Tomorrow"/>
              </a:rPr>
              <a:t> | 96.6% Faster Verification | Zero Premature Release Leakage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711784" y="6583651"/>
            <a:ext cx="4744022" cy="84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Standardized digital verification via SFMS MT760/767 protocols and automated CBS lookup.</a:t>
            </a:r>
          </a:p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Eliminates manual branch clerical burden of responding to physical inquiry and lien letters.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730834" y="8561327"/>
            <a:ext cx="4790570" cy="847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Immutable SHA-256 cryptographic chain of custody guaranteeing zero tampered financial records.</a:t>
            </a:r>
          </a:p>
          <a:p>
            <a:pPr algn="l">
              <a:lnSpc>
                <a:spcPts val="1666"/>
              </a:lnSpc>
            </a:pPr>
            <a:r>
              <a:rPr sz="1449" b="0">
                <a:solidFill>
                  <a:srgbClr val="000000"/>
                </a:solidFill>
                <a:latin typeface="Tomorrow"/>
              </a:rPr>
              <a:t>• DPDP Act 2023 compliant privacy views; protected institutional corpus safeguards student education.</a:t>
            </a:r>
          </a:p>
        </p:txBody>
      </p:sp>
      <p:sp>
        <p:nvSpPr>
          <p:cNvPr name="TextBox 101" id="101"/>
          <p:cNvSpPr txBox="true"/>
          <p:nvPr/>
        </p:nvSpPr>
        <p:spPr>
          <a:xfrm rot="5400000">
            <a:off x="16368165" y="3199600"/>
            <a:ext cx="287581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POTENTIAL BENEFITS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DAHXf1cTlAI</dc:identifier>
  <dcterms:modified xsi:type="dcterms:W3CDTF">2011-08-01T06:04:30Z</dcterms:modified>
  <cp:revision>1</cp:revision>
  <dc:title>SIH26261</dc:title>
</cp:coreProperties>
</file>